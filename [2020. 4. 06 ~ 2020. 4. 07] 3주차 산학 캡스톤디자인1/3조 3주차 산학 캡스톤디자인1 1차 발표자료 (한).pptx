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9" autoAdjust="0"/>
    <p:restoredTop sz="94660"/>
  </p:normalViewPr>
  <p:slideViewPr>
    <p:cSldViewPr snapToGrid="0">
      <p:cViewPr varScale="1">
        <p:scale>
          <a:sx n="83" d="100"/>
          <a:sy n="83" d="100"/>
        </p:scale>
        <p:origin x="120" y="34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041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5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85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95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08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523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33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68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36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21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064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2020-04-08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702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그룹 84"/>
          <p:cNvGrpSpPr/>
          <p:nvPr/>
        </p:nvGrpSpPr>
        <p:grpSpPr>
          <a:xfrm>
            <a:off x="1870995" y="2324896"/>
            <a:ext cx="8022315" cy="2862146"/>
            <a:chOff x="1870995" y="2324896"/>
            <a:chExt cx="8022315" cy="2862146"/>
          </a:xfrm>
        </p:grpSpPr>
        <p:grpSp>
          <p:nvGrpSpPr>
            <p:cNvPr id="7" name="그룹 6"/>
            <p:cNvGrpSpPr/>
            <p:nvPr/>
          </p:nvGrpSpPr>
          <p:grpSpPr>
            <a:xfrm>
              <a:off x="5443298" y="2424148"/>
              <a:ext cx="1424584" cy="2762894"/>
              <a:chOff x="5443298" y="2424148"/>
              <a:chExt cx="1424584" cy="2205001"/>
            </a:xfrm>
          </p:grpSpPr>
          <p:sp>
            <p:nvSpPr>
              <p:cNvPr id="36" name="한쪽 모서리가 둥근 사각형 35"/>
              <p:cNvSpPr/>
              <p:nvPr/>
            </p:nvSpPr>
            <p:spPr>
              <a:xfrm>
                <a:off x="5443298" y="2424148"/>
                <a:ext cx="1424584" cy="2205001"/>
              </a:xfrm>
              <a:prstGeom prst="round1Rect">
                <a:avLst>
                  <a:gd name="adj" fmla="val 0"/>
                </a:avLst>
              </a:prstGeom>
              <a:solidFill>
                <a:srgbClr val="00D6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1000">
                  <a:solidFill>
                    <a:prstClr val="white"/>
                  </a:solidFill>
                </a:endParaRPr>
              </a:p>
              <a:p>
                <a:pPr algn="ctr">
                  <a:defRPr/>
                </a:pPr>
                <a:endParaRPr lang="en-US" altLang="ko-KR" sz="1000">
                  <a:solidFill>
                    <a:prstClr val="white"/>
                  </a:solidFill>
                </a:endParaRPr>
              </a:p>
              <a:p>
                <a:pPr algn="ctr">
                  <a:defRPr/>
                </a:pPr>
                <a:endParaRPr lang="en-US" altLang="ko-KR" sz="1000">
                  <a:solidFill>
                    <a:prstClr val="white"/>
                  </a:solidFill>
                </a:endParaRPr>
              </a:p>
              <a:p>
                <a:pPr algn="ctr">
                  <a:defRPr/>
                </a:pPr>
                <a:endParaRPr lang="en-US" altLang="ko-KR" sz="1000">
                  <a:solidFill>
                    <a:prstClr val="white"/>
                  </a:solidFill>
                </a:endParaRPr>
              </a:p>
              <a:p>
                <a:pPr algn="ctr">
                  <a:defRPr/>
                </a:pPr>
                <a:endParaRPr lang="en-US" altLang="ko-KR" sz="1000">
                  <a:solidFill>
                    <a:prstClr val="white"/>
                  </a:solidFill>
                </a:endParaRPr>
              </a:p>
              <a:p>
                <a:pPr algn="ctr">
                  <a:defRPr/>
                </a:pPr>
                <a:r>
                  <a:rPr lang="en-US" altLang="ko-KR" sz="1000">
                    <a:solidFill>
                      <a:prstClr val="white"/>
                    </a:solidFill>
                  </a:rPr>
                  <a:t>TEAM : </a:t>
                </a:r>
                <a:r>
                  <a:rPr lang="ko-KR" altLang="en-US" sz="1000">
                    <a:solidFill>
                      <a:prstClr val="white"/>
                    </a:solidFill>
                  </a:rPr>
                  <a:t>어시스턴트</a:t>
                </a:r>
              </a:p>
            </p:txBody>
          </p:sp>
          <p:sp>
            <p:nvSpPr>
              <p:cNvPr id="72" name="자유형 71"/>
              <p:cNvSpPr/>
              <p:nvPr/>
            </p:nvSpPr>
            <p:spPr>
              <a:xfrm>
                <a:off x="5846533" y="3042222"/>
                <a:ext cx="618112" cy="618112"/>
              </a:xfrm>
              <a:custGeom>
                <a:avLst/>
                <a:gdLst>
                  <a:gd name="connsiteX0" fmla="*/ 222250 w 444500"/>
                  <a:gd name="connsiteY0" fmla="*/ 103981 h 444500"/>
                  <a:gd name="connsiteX1" fmla="*/ 296466 w 444500"/>
                  <a:gd name="connsiteY1" fmla="*/ 178197 h 444500"/>
                  <a:gd name="connsiteX2" fmla="*/ 222250 w 444500"/>
                  <a:gd name="connsiteY2" fmla="*/ 252413 h 444500"/>
                  <a:gd name="connsiteX3" fmla="*/ 148034 w 444500"/>
                  <a:gd name="connsiteY3" fmla="*/ 178197 h 444500"/>
                  <a:gd name="connsiteX4" fmla="*/ 222250 w 444500"/>
                  <a:gd name="connsiteY4" fmla="*/ 103981 h 444500"/>
                  <a:gd name="connsiteX5" fmla="*/ 222250 w 444500"/>
                  <a:gd name="connsiteY5" fmla="*/ 31644 h 444500"/>
                  <a:gd name="connsiteX6" fmla="*/ 31644 w 444500"/>
                  <a:gd name="connsiteY6" fmla="*/ 222250 h 444500"/>
                  <a:gd name="connsiteX7" fmla="*/ 87471 w 444500"/>
                  <a:gd name="connsiteY7" fmla="*/ 357029 h 444500"/>
                  <a:gd name="connsiteX8" fmla="*/ 88485 w 444500"/>
                  <a:gd name="connsiteY8" fmla="*/ 357712 h 444500"/>
                  <a:gd name="connsiteX9" fmla="*/ 105506 w 444500"/>
                  <a:gd name="connsiteY9" fmla="*/ 332466 h 444500"/>
                  <a:gd name="connsiteX10" fmla="*/ 222250 w 444500"/>
                  <a:gd name="connsiteY10" fmla="*/ 284109 h 444500"/>
                  <a:gd name="connsiteX11" fmla="*/ 338994 w 444500"/>
                  <a:gd name="connsiteY11" fmla="*/ 332466 h 444500"/>
                  <a:gd name="connsiteX12" fmla="*/ 356016 w 444500"/>
                  <a:gd name="connsiteY12" fmla="*/ 357712 h 444500"/>
                  <a:gd name="connsiteX13" fmla="*/ 357029 w 444500"/>
                  <a:gd name="connsiteY13" fmla="*/ 357029 h 444500"/>
                  <a:gd name="connsiteX14" fmla="*/ 412856 w 444500"/>
                  <a:gd name="connsiteY14" fmla="*/ 222250 h 444500"/>
                  <a:gd name="connsiteX15" fmla="*/ 222250 w 444500"/>
                  <a:gd name="connsiteY15" fmla="*/ 31644 h 444500"/>
                  <a:gd name="connsiteX16" fmla="*/ 222250 w 444500"/>
                  <a:gd name="connsiteY16" fmla="*/ 0 h 444500"/>
                  <a:gd name="connsiteX17" fmla="*/ 444500 w 444500"/>
                  <a:gd name="connsiteY17" fmla="*/ 222250 h 444500"/>
                  <a:gd name="connsiteX18" fmla="*/ 222250 w 444500"/>
                  <a:gd name="connsiteY18" fmla="*/ 444500 h 444500"/>
                  <a:gd name="connsiteX19" fmla="*/ 0 w 444500"/>
                  <a:gd name="connsiteY19" fmla="*/ 222250 h 444500"/>
                  <a:gd name="connsiteX20" fmla="*/ 222250 w 444500"/>
                  <a:gd name="connsiteY20" fmla="*/ 0 h 44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4500" h="444500">
                    <a:moveTo>
                      <a:pt x="222250" y="103981"/>
                    </a:moveTo>
                    <a:cubicBezTo>
                      <a:pt x="263238" y="103981"/>
                      <a:pt x="296466" y="137209"/>
                      <a:pt x="296466" y="178197"/>
                    </a:cubicBezTo>
                    <a:cubicBezTo>
                      <a:pt x="296466" y="219185"/>
                      <a:pt x="263238" y="252413"/>
                      <a:pt x="222250" y="252413"/>
                    </a:cubicBezTo>
                    <a:cubicBezTo>
                      <a:pt x="181262" y="252413"/>
                      <a:pt x="148034" y="219185"/>
                      <a:pt x="148034" y="178197"/>
                    </a:cubicBezTo>
                    <a:cubicBezTo>
                      <a:pt x="148034" y="137209"/>
                      <a:pt x="181262" y="103981"/>
                      <a:pt x="222250" y="103981"/>
                    </a:cubicBezTo>
                    <a:close/>
                    <a:moveTo>
                      <a:pt x="222250" y="31644"/>
                    </a:moveTo>
                    <a:cubicBezTo>
                      <a:pt x="116981" y="31644"/>
                      <a:pt x="31644" y="116981"/>
                      <a:pt x="31644" y="222250"/>
                    </a:cubicBezTo>
                    <a:cubicBezTo>
                      <a:pt x="31644" y="274884"/>
                      <a:pt x="52978" y="322536"/>
                      <a:pt x="87471" y="357029"/>
                    </a:cubicBezTo>
                    <a:lnTo>
                      <a:pt x="88485" y="357712"/>
                    </a:lnTo>
                    <a:lnTo>
                      <a:pt x="105506" y="332466"/>
                    </a:lnTo>
                    <a:cubicBezTo>
                      <a:pt x="135383" y="302589"/>
                      <a:pt x="176659" y="284109"/>
                      <a:pt x="222250" y="284109"/>
                    </a:cubicBezTo>
                    <a:cubicBezTo>
                      <a:pt x="267842" y="284109"/>
                      <a:pt x="309117" y="302589"/>
                      <a:pt x="338994" y="332466"/>
                    </a:cubicBezTo>
                    <a:lnTo>
                      <a:pt x="356016" y="357712"/>
                    </a:lnTo>
                    <a:lnTo>
                      <a:pt x="357029" y="357029"/>
                    </a:lnTo>
                    <a:cubicBezTo>
                      <a:pt x="391522" y="322536"/>
                      <a:pt x="412856" y="274884"/>
                      <a:pt x="412856" y="222250"/>
                    </a:cubicBezTo>
                    <a:cubicBezTo>
                      <a:pt x="412856" y="116981"/>
                      <a:pt x="327519" y="31644"/>
                      <a:pt x="222250" y="31644"/>
                    </a:cubicBezTo>
                    <a:close/>
                    <a:moveTo>
                      <a:pt x="222250" y="0"/>
                    </a:moveTo>
                    <a:cubicBezTo>
                      <a:pt x="344995" y="0"/>
                      <a:pt x="444500" y="99505"/>
                      <a:pt x="444500" y="222250"/>
                    </a:cubicBezTo>
                    <a:cubicBezTo>
                      <a:pt x="444500" y="344995"/>
                      <a:pt x="344995" y="444500"/>
                      <a:pt x="222250" y="444500"/>
                    </a:cubicBezTo>
                    <a:cubicBezTo>
                      <a:pt x="99505" y="444500"/>
                      <a:pt x="0" y="344995"/>
                      <a:pt x="0" y="222250"/>
                    </a:cubicBezTo>
                    <a:cubicBezTo>
                      <a:pt x="0" y="99505"/>
                      <a:pt x="99505" y="0"/>
                      <a:pt x="22225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2400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타원 34"/>
              <p:cNvSpPr/>
              <p:nvPr/>
            </p:nvSpPr>
            <p:spPr>
              <a:xfrm>
                <a:off x="6280708" y="3006309"/>
                <a:ext cx="223119" cy="223119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tIns="36000" rIns="36000" bIns="36000" anchor="ctr"/>
              <a:lstStyle/>
              <a:p>
                <a:pPr algn="ctr">
                  <a:defRPr/>
                </a:pPr>
                <a:r>
                  <a:rPr lang="en-US" altLang="ko-KR" sz="1100">
                    <a:solidFill>
                      <a:prstClr val="white"/>
                    </a:solidFill>
                  </a:rPr>
                  <a:t>5</a:t>
                </a:r>
              </a:p>
            </p:txBody>
          </p:sp>
        </p:grpSp>
        <p:sp>
          <p:nvSpPr>
            <p:cNvPr id="80" name="한쪽 모서리가 둥근 사각형 79"/>
            <p:cNvSpPr/>
            <p:nvPr/>
          </p:nvSpPr>
          <p:spPr>
            <a:xfrm>
              <a:off x="1870995" y="2436455"/>
              <a:ext cx="3375019" cy="2742483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rgbClr val="00D65E"/>
              </a:solidFill>
            </a:ln>
            <a:effectLst>
              <a:outerShdw dist="38100" dir="10800000" algn="r" rotWithShape="0">
                <a:srgbClr val="00D65E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50000"/>
                </a:lnSpc>
                <a:defRPr/>
              </a:pPr>
              <a:r>
                <a:rPr lang="ko-KR" altLang="en-US" sz="2000" i="1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산학 </a:t>
              </a:r>
              <a:r>
                <a:rPr lang="ko-KR" altLang="en-US" sz="2000" i="1" dirty="0" err="1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캡스톤</a:t>
              </a:r>
              <a:r>
                <a:rPr lang="ko-KR" altLang="en-US" sz="2000" i="1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 디자인</a:t>
              </a:r>
              <a:r>
                <a:rPr lang="en-US" altLang="ko-KR" sz="2000" i="1" dirty="0">
                  <a:solidFill>
                    <a:prstClr val="black">
                      <a:lumMod val="65000"/>
                      <a:lumOff val="35000"/>
                    </a:prstClr>
                  </a:solidFill>
                </a:rPr>
                <a:t>1</a:t>
              </a:r>
              <a:endParaRPr lang="ko-KR" altLang="en-US" sz="2800" b="1" i="1" dirty="0">
                <a:solidFill>
                  <a:srgbClr val="00D65E"/>
                </a:solidFill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ko-KR" altLang="en-US" sz="2400" b="1" i="1" dirty="0">
                  <a:solidFill>
                    <a:srgbClr val="00D65E"/>
                  </a:solidFill>
                </a:rPr>
                <a:t>동기부여 어플리케이션</a:t>
              </a:r>
              <a:r>
                <a:rPr lang="ko-KR" altLang="en-US" sz="2000" b="1" i="1" dirty="0">
                  <a:solidFill>
                    <a:srgbClr val="00D65E"/>
                  </a:solidFill>
                </a:rPr>
                <a:t> </a:t>
              </a:r>
            </a:p>
          </p:txBody>
        </p:sp>
        <p:grpSp>
          <p:nvGrpSpPr>
            <p:cNvPr id="84" name="그룹 83"/>
            <p:cNvGrpSpPr/>
            <p:nvPr/>
          </p:nvGrpSpPr>
          <p:grpSpPr>
            <a:xfrm>
              <a:off x="7008970" y="2324896"/>
              <a:ext cx="2884339" cy="2858064"/>
              <a:chOff x="7008971" y="2324896"/>
              <a:chExt cx="2884339" cy="2858064"/>
            </a:xfrm>
          </p:grpSpPr>
          <p:sp>
            <p:nvSpPr>
              <p:cNvPr id="58" name="양쪽 모서리가 둥근 사각형 57"/>
              <p:cNvSpPr/>
              <p:nvPr/>
            </p:nvSpPr>
            <p:spPr>
              <a:xfrm>
                <a:off x="7008971" y="2424148"/>
                <a:ext cx="2772780" cy="55125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00D65E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ko-KR" altLang="en-US" sz="2400">
                    <a:solidFill>
                      <a:prstClr val="white"/>
                    </a:solidFill>
                  </a:rPr>
                  <a:t>● </a:t>
                </a:r>
                <a:r>
                  <a:rPr lang="ko-KR" altLang="en-US" sz="1200">
                    <a:solidFill>
                      <a:prstClr val="white"/>
                    </a:solidFill>
                  </a:rPr>
                  <a:t>컴퓨터공학과 구명회</a:t>
                </a:r>
              </a:p>
            </p:txBody>
          </p:sp>
          <p:sp>
            <p:nvSpPr>
              <p:cNvPr id="59" name="자유형 58"/>
              <p:cNvSpPr/>
              <p:nvPr/>
            </p:nvSpPr>
            <p:spPr>
              <a:xfrm>
                <a:off x="7204550" y="2660722"/>
                <a:ext cx="91780" cy="107742"/>
              </a:xfrm>
              <a:custGeom>
                <a:avLst/>
                <a:gdLst>
                  <a:gd name="connsiteX0" fmla="*/ 0 w 73025"/>
                  <a:gd name="connsiteY0" fmla="*/ 31750 h 85725"/>
                  <a:gd name="connsiteX1" fmla="*/ 31750 w 73025"/>
                  <a:gd name="connsiteY1" fmla="*/ 85725 h 85725"/>
                  <a:gd name="connsiteX2" fmla="*/ 73025 w 73025"/>
                  <a:gd name="connsiteY2" fmla="*/ 0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025" h="85725">
                    <a:moveTo>
                      <a:pt x="0" y="31750"/>
                    </a:moveTo>
                    <a:lnTo>
                      <a:pt x="31750" y="85725"/>
                    </a:lnTo>
                    <a:lnTo>
                      <a:pt x="73025" y="0"/>
                    </a:lnTo>
                  </a:path>
                </a:pathLst>
              </a:custGeom>
              <a:noFill/>
              <a:ln w="19050">
                <a:solidFill>
                  <a:srgbClr val="00D6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양쪽 모서리가 둥근 사각형 59"/>
              <p:cNvSpPr/>
              <p:nvPr/>
            </p:nvSpPr>
            <p:spPr>
              <a:xfrm>
                <a:off x="7008971" y="2975398"/>
                <a:ext cx="2772780" cy="55125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ko-KR" altLang="en-US" sz="2400">
                    <a:solidFill>
                      <a:srgbClr val="00D65E"/>
                    </a:solidFill>
                  </a:rPr>
                  <a:t>○</a:t>
                </a:r>
                <a:r>
                  <a:rPr lang="ko-KR" altLang="en-US" sz="2400">
                    <a:solidFill>
                      <a:srgbClr val="264259"/>
                    </a:solidFill>
                  </a:rPr>
                  <a:t> </a:t>
                </a:r>
                <a:r>
                  <a:rPr lang="ko-KR" altLang="en-US" sz="1200">
                    <a:solidFill>
                      <a:srgbClr val="264259"/>
                    </a:solidFill>
                  </a:rPr>
                  <a:t>컴퓨터공학과 김경수</a:t>
                </a:r>
              </a:p>
            </p:txBody>
          </p:sp>
          <p:sp>
            <p:nvSpPr>
              <p:cNvPr id="75" name="양쪽 모서리가 둥근 사각형 74"/>
              <p:cNvSpPr/>
              <p:nvPr/>
            </p:nvSpPr>
            <p:spPr>
              <a:xfrm>
                <a:off x="7008971" y="3526648"/>
                <a:ext cx="2772780" cy="55125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ko-KR" altLang="en-US" sz="2400">
                    <a:solidFill>
                      <a:srgbClr val="00D65E"/>
                    </a:solidFill>
                  </a:rPr>
                  <a:t>○</a:t>
                </a:r>
                <a:r>
                  <a:rPr lang="ko-KR" altLang="en-US" sz="2400">
                    <a:solidFill>
                      <a:srgbClr val="264259"/>
                    </a:solidFill>
                  </a:rPr>
                  <a:t> </a:t>
                </a:r>
                <a:r>
                  <a:rPr lang="ko-KR" altLang="en-US" sz="1200">
                    <a:solidFill>
                      <a:srgbClr val="264259"/>
                    </a:solidFill>
                  </a:rPr>
                  <a:t>컴퓨터공학과 김선비</a:t>
                </a:r>
              </a:p>
            </p:txBody>
          </p:sp>
          <p:sp>
            <p:nvSpPr>
              <p:cNvPr id="76" name="양쪽 모서리가 둥근 사각형 75"/>
              <p:cNvSpPr/>
              <p:nvPr/>
            </p:nvSpPr>
            <p:spPr>
              <a:xfrm>
                <a:off x="7008971" y="4077899"/>
                <a:ext cx="2772780" cy="55125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>
                  <a:defRPr/>
                </a:pPr>
                <a:r>
                  <a:rPr lang="ko-KR" altLang="en-US" sz="2400">
                    <a:solidFill>
                      <a:srgbClr val="00D65E"/>
                    </a:solidFill>
                  </a:rPr>
                  <a:t>○</a:t>
                </a:r>
                <a:r>
                  <a:rPr lang="ko-KR" altLang="en-US" sz="2400">
                    <a:solidFill>
                      <a:srgbClr val="264259"/>
                    </a:solidFill>
                  </a:rPr>
                  <a:t> </a:t>
                </a:r>
                <a:r>
                  <a:rPr lang="ko-KR" altLang="en-US" sz="1200">
                    <a:solidFill>
                      <a:srgbClr val="264259"/>
                    </a:solidFill>
                  </a:rPr>
                  <a:t>컴퓨터공학과 박효정</a:t>
                </a:r>
              </a:p>
            </p:txBody>
          </p:sp>
          <p:sp>
            <p:nvSpPr>
              <p:cNvPr id="77" name="타원 76"/>
              <p:cNvSpPr/>
              <p:nvPr/>
            </p:nvSpPr>
            <p:spPr>
              <a:xfrm>
                <a:off x="9670191" y="2324896"/>
                <a:ext cx="223119" cy="22311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D65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tIns="36000" rIns="36000" bIns="36000" anchor="ctr"/>
              <a:lstStyle/>
              <a:p>
                <a:pPr algn="ctr">
                  <a:defRPr/>
                </a:pPr>
                <a:r>
                  <a:rPr lang="ko-KR" altLang="en-US" sz="700">
                    <a:solidFill>
                      <a:srgbClr val="00D65E"/>
                    </a:solidFill>
                  </a:rPr>
                  <a:t>팀장</a:t>
                </a:r>
              </a:p>
            </p:txBody>
          </p:sp>
          <p:sp>
            <p:nvSpPr>
              <p:cNvPr id="82" name="양쪽 모서리가 둥근 사각형 75"/>
              <p:cNvSpPr/>
              <p:nvPr/>
            </p:nvSpPr>
            <p:spPr>
              <a:xfrm>
                <a:off x="7011692" y="4631710"/>
                <a:ext cx="2772780" cy="55125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FFFFF">
                  <a:alpha val="100000"/>
                </a:srgbClr>
              </a:solidFill>
              <a:ln w="12700" cap="flat" cmpd="sng" algn="ctr">
                <a:solidFill>
                  <a:srgbClr val="D9D9D9">
                    <a:alpha val="100000"/>
                  </a:srgbClr>
                </a:solidFill>
                <a:prstDash val="solid"/>
                <a:miter/>
              </a:ln>
            </p:spPr>
            <p:txBody>
              <a:bodyPr anchor="ctr"/>
              <a:lstStyle/>
              <a:p>
                <a:pPr marL="0" lv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None/>
                  <a:defRPr/>
                </a:pPr>
                <a:r>
                  <a:rPr kumimoji="0" lang="ko-KR" altLang="en-US" sz="2400" b="0" i="0" u="none" strike="noStrike" kern="1200" cap="none" spc="0" normalizeH="0" baseline="0">
                    <a:solidFill>
                      <a:srgbClr val="00D65E"/>
                    </a:solidFill>
                    <a:latin typeface="맑은 고딕"/>
                    <a:ea typeface="맑은 고딕"/>
                    <a:cs typeface="맑은 고딕"/>
                  </a:rPr>
                  <a:t>○</a:t>
                </a:r>
                <a:r>
                  <a:rPr kumimoji="0" lang="ko-KR" altLang="en-US" sz="2400" b="0" i="0" u="none" strike="noStrike" kern="1200" cap="none" spc="0" normalizeH="0" baseline="0">
                    <a:solidFill>
                      <a:srgbClr val="264259"/>
                    </a:solidFill>
                    <a:latin typeface="맑은 고딕"/>
                    <a:ea typeface="맑은 고딕"/>
                    <a:cs typeface="맑은 고딕"/>
                  </a:rPr>
                  <a:t> </a:t>
                </a:r>
                <a:r>
                  <a:rPr kumimoji="0" lang="ko-KR" altLang="en-US" sz="1200" b="0" i="0" u="none" strike="noStrike" kern="1200" cap="none" spc="0" normalizeH="0" baseline="0">
                    <a:solidFill>
                      <a:srgbClr val="264259"/>
                    </a:solidFill>
                    <a:latin typeface="맑은 고딕"/>
                    <a:ea typeface="맑은 고딕"/>
                    <a:cs typeface="맑은 고딕"/>
                  </a:rPr>
                  <a:t>컴퓨터공학과 장자욱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3" name="직사각형 32"/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>
                <a:solidFill>
                  <a:prstClr val="white"/>
                </a:solidFill>
              </a:rPr>
              <a:t>어시스턴트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목차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산학캡스톤디자인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1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 동기부여 어플리케이션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2046966" y="2027689"/>
            <a:ext cx="3330123" cy="3155044"/>
            <a:chOff x="1370691" y="1646917"/>
            <a:chExt cx="2206173" cy="2193020"/>
          </a:xfrm>
        </p:grpSpPr>
        <p:sp>
          <p:nvSpPr>
            <p:cNvPr id="57" name="직사각형 8"/>
            <p:cNvSpPr/>
            <p:nvPr/>
          </p:nvSpPr>
          <p:spPr>
            <a:xfrm>
              <a:off x="1370693" y="2524125"/>
              <a:ext cx="2206171" cy="438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D9D9D9">
                  <a:alpha val="100000"/>
                </a:srgbClr>
              </a:solidFill>
              <a:prstDash val="solid"/>
              <a:miter/>
            </a:ln>
          </p:spPr>
          <p:txBody>
            <a:bodyPr lIns="126000" anchor="ctr"/>
            <a:lstStyle/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D65E"/>
                  </a:solidFill>
                  <a:latin typeface="맑은 고딕"/>
                  <a:ea typeface="맑은 고딕"/>
                  <a:cs typeface="맑은 고딕"/>
                </a:rPr>
                <a:t>○</a:t>
              </a:r>
              <a:r>
                <a:rPr kumimoji="0" lang="ko-KR" altLang="en-US" sz="1500" b="0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kumimoji="0" lang="ko-KR" altLang="en-US" sz="1500" b="1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설 계</a:t>
              </a:r>
            </a:p>
          </p:txBody>
        </p:sp>
        <p:sp>
          <p:nvSpPr>
            <p:cNvPr id="58" name="양쪽 모서리가 둥근 사각형 10"/>
            <p:cNvSpPr/>
            <p:nvPr/>
          </p:nvSpPr>
          <p:spPr>
            <a:xfrm>
              <a:off x="1370692" y="3401333"/>
              <a:ext cx="2206171" cy="438604"/>
            </a:xfrm>
            <a:prstGeom prst="round2SameRect">
              <a:avLst>
                <a:gd name="adj1" fmla="val 0"/>
                <a:gd name="adj2" fmla="val 26060"/>
              </a:avLst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D9D9D9">
                  <a:alpha val="100000"/>
                </a:srgbClr>
              </a:solidFill>
              <a:prstDash val="solid"/>
              <a:miter/>
            </a:ln>
          </p:spPr>
          <p:txBody>
            <a:bodyPr anchor="ctr"/>
            <a:lstStyle/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D65E"/>
                  </a:solidFill>
                  <a:latin typeface="맑은 고딕"/>
                  <a:ea typeface="맑은 고딕"/>
                  <a:cs typeface="맑은 고딕"/>
                </a:rPr>
                <a:t>○</a:t>
              </a:r>
              <a:r>
                <a:rPr kumimoji="0" lang="ko-KR" altLang="en-US" sz="1500" b="1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 예 정</a:t>
              </a:r>
            </a:p>
          </p:txBody>
        </p:sp>
        <p:sp>
          <p:nvSpPr>
            <p:cNvPr id="59" name="양쪽 모서리가 둥근 사각형 11"/>
            <p:cNvSpPr/>
            <p:nvPr/>
          </p:nvSpPr>
          <p:spPr>
            <a:xfrm>
              <a:off x="1370691" y="1646917"/>
              <a:ext cx="2206171" cy="438604"/>
            </a:xfrm>
            <a:prstGeom prst="round2SameRect">
              <a:avLst>
                <a:gd name="adj1" fmla="val 28990"/>
                <a:gd name="adj2" fmla="val 0"/>
              </a:avLst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D9D9D9">
                  <a:alpha val="100000"/>
                </a:srgbClr>
              </a:solidFill>
              <a:prstDash val="solid"/>
              <a:miter/>
            </a:ln>
          </p:spPr>
          <p:txBody>
            <a:bodyPr anchor="ctr"/>
            <a:lstStyle/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D65E"/>
                  </a:solidFill>
                  <a:latin typeface="맑은 고딕"/>
                  <a:ea typeface="맑은 고딕"/>
                  <a:cs typeface="맑은 고딕"/>
                </a:rPr>
                <a:t>●</a:t>
              </a:r>
              <a:r>
                <a:rPr kumimoji="0" lang="ko-KR" altLang="en-US" sz="1800" b="0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kumimoji="0" lang="ko-KR" altLang="en-US" sz="1500" b="1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개 요</a:t>
              </a:r>
            </a:p>
          </p:txBody>
        </p:sp>
        <p:sp>
          <p:nvSpPr>
            <p:cNvPr id="60" name="직사각형 12"/>
            <p:cNvSpPr/>
            <p:nvPr/>
          </p:nvSpPr>
          <p:spPr>
            <a:xfrm>
              <a:off x="1370691" y="2962729"/>
              <a:ext cx="2206171" cy="438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D9D9D9">
                  <a:alpha val="100000"/>
                </a:srgbClr>
              </a:solidFill>
              <a:prstDash val="solid"/>
              <a:miter/>
            </a:ln>
          </p:spPr>
          <p:txBody>
            <a:bodyPr lIns="126000" anchor="ctr"/>
            <a:lstStyle/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D65E"/>
                  </a:solidFill>
                  <a:latin typeface="맑은 고딕"/>
                  <a:ea typeface="맑은 고딕"/>
                  <a:cs typeface="맑은 고딕"/>
                </a:rPr>
                <a:t>○</a:t>
              </a:r>
              <a:r>
                <a:rPr kumimoji="0" lang="ko-KR" altLang="en-US" sz="1500" b="1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 참 고</a:t>
              </a:r>
            </a:p>
          </p:txBody>
        </p:sp>
        <p:sp>
          <p:nvSpPr>
            <p:cNvPr id="61" name="자유형 14"/>
            <p:cNvSpPr/>
            <p:nvPr/>
          </p:nvSpPr>
          <p:spPr>
            <a:xfrm>
              <a:off x="1499077" y="1857105"/>
              <a:ext cx="85645" cy="92345"/>
            </a:xfrm>
            <a:custGeom>
              <a:avLst/>
              <a:gdLst>
                <a:gd name="connsiteX0" fmla="*/ 0 w 73025"/>
                <a:gd name="connsiteY0" fmla="*/ 31750 h 85725"/>
                <a:gd name="connsiteX1" fmla="*/ 31750 w 73025"/>
                <a:gd name="connsiteY1" fmla="*/ 85725 h 85725"/>
                <a:gd name="connsiteX2" fmla="*/ 73025 w 73025"/>
                <a:gd name="connsiteY2" fmla="*/ 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025" h="85725">
                  <a:moveTo>
                    <a:pt x="0" y="31750"/>
                  </a:moveTo>
                  <a:lnTo>
                    <a:pt x="31750" y="85725"/>
                  </a:lnTo>
                  <a:lnTo>
                    <a:pt x="73025" y="0"/>
                  </a:lnTo>
                </a:path>
              </a:pathLst>
            </a:custGeom>
            <a:noFill/>
            <a:ln w="12700" cap="flat" cmpd="sng" algn="ctr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 anchor="ctr"/>
            <a:lstStyle/>
            <a:p>
              <a:pPr marL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srgbClr val="FFFFFF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62" name="직사각형 8"/>
            <p:cNvSpPr/>
            <p:nvPr/>
          </p:nvSpPr>
          <p:spPr>
            <a:xfrm>
              <a:off x="1370692" y="2085975"/>
              <a:ext cx="2206171" cy="4386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 cmpd="sng" algn="ctr">
              <a:solidFill>
                <a:srgbClr val="D9D9D9">
                  <a:alpha val="100000"/>
                </a:srgbClr>
              </a:solidFill>
              <a:prstDash val="solid"/>
              <a:miter/>
            </a:ln>
          </p:spPr>
          <p:txBody>
            <a:bodyPr lIns="126000" anchor="ctr"/>
            <a:lstStyle/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D65E"/>
                  </a:solidFill>
                  <a:latin typeface="맑은 고딕"/>
                  <a:ea typeface="맑은 고딕"/>
                  <a:cs typeface="맑은 고딕"/>
                </a:rPr>
                <a:t>○</a:t>
              </a:r>
              <a:r>
                <a:rPr kumimoji="0" lang="ko-KR" altLang="en-US" sz="1800" b="0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kumimoji="0" lang="ko-KR" altLang="en-US" sz="1500" b="1" i="0" u="none" strike="noStrike" kern="1200" cap="none" spc="0" normalizeH="0" baseline="0">
                  <a:solidFill>
                    <a:srgbClr val="264259"/>
                  </a:solidFill>
                  <a:latin typeface="맑은 고딕"/>
                  <a:ea typeface="맑은 고딕"/>
                  <a:cs typeface="맑은 고딕"/>
                </a:rPr>
                <a:t>토 론</a:t>
              </a:r>
            </a:p>
          </p:txBody>
        </p:sp>
      </p:grp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38950" y="1809749"/>
            <a:ext cx="3790950" cy="3790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개요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b="1" kern="0">
                <a:solidFill>
                  <a:schemeClr val="accent6"/>
                </a:solidFill>
              </a:rPr>
              <a:t>선정배경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개발목표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기대효과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팀구성</a:t>
            </a:r>
            <a:endParaRPr lang="en-US" altLang="ko-KR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74487" y="1837813"/>
            <a:ext cx="9783451" cy="2937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600" b="1">
                <a:solidFill>
                  <a:srgbClr val="00D65E"/>
                </a:solidFill>
              </a:rPr>
              <a:t>선정 배경</a:t>
            </a:r>
          </a:p>
          <a:p>
            <a:pPr>
              <a:lnSpc>
                <a:spcPct val="150000"/>
              </a:lnSpc>
              <a:defRPr/>
            </a:pPr>
            <a:endParaRPr lang="ko-KR" altLang="en-US" sz="1600" b="1">
              <a:solidFill>
                <a:srgbClr val="00D65E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 u="none" strike="noStrike"/>
              <a:t>공부를 잘하고 싶어서 효율적인 공부 방법을 찾아본 경험이 있을 것입니다</a:t>
            </a:r>
            <a:r>
              <a:rPr lang="EN-US" sz="1300" b="0" i="0" u="none" strike="noStrike"/>
              <a:t>. </a:t>
            </a:r>
            <a:endParaRPr lang="en-US" sz="13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 u="none" strike="noStrike"/>
              <a:t>하지만 사람마다 학습법은 다양하기 때문에</a:t>
            </a:r>
            <a:r>
              <a:rPr lang="EN-US" sz="1300" b="0" i="0" u="none" strike="noStrike"/>
              <a:t>, </a:t>
            </a:r>
            <a:r>
              <a:rPr sz="1300" b="0" i="0" u="none" strike="noStrike"/>
              <a:t>공부를 잘하는 사람의 공부법이 무조건 나에게 효율적인 것은 아닙니다</a:t>
            </a:r>
            <a:r>
              <a:rPr lang="EN-US" sz="1300" b="0" i="0" u="none" strike="noStrike"/>
              <a:t>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 u="none" strike="noStrike"/>
              <a:t>따라서 이 프로젝트를 통해 심리 테스트처럼 정해진 유형에 따른 알맞은 학습법을 찾을 수 있으면 좋겠다고 생각했습니다</a:t>
            </a:r>
            <a:r>
              <a:rPr lang="EN-US" sz="1300" b="0" i="0" u="none" strike="noStrike"/>
              <a:t>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 u="none" strike="noStrike"/>
              <a:t>본 프로젝트는 자신에게 알맞은 학습법을 찾아 훨씬 효율적인 학습을 할 수 있도록 도와주고</a:t>
            </a:r>
            <a:r>
              <a:rPr lang="EN-US" sz="1300" b="0" i="0" u="none" strike="noStrike"/>
              <a:t>, </a:t>
            </a:r>
            <a:endParaRPr lang="en-US" sz="13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 u="none" strike="noStrike"/>
              <a:t>학습에 대한 동기를 부여함으로써 학습 의지가 있는 분들께 많은 도움이 될 것입니다</a:t>
            </a:r>
            <a:r>
              <a:rPr lang="EN-US" sz="1300" b="0" i="0" u="none" strike="noStrike"/>
              <a:t>.</a:t>
            </a: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B069F1B-2D49-4950-AC93-9A3D0396E389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>
                <a:solidFill>
                  <a:prstClr val="white"/>
                </a:solidFill>
              </a:rPr>
              <a:t>어시스턴트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개요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선정배경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b="1" kern="0">
                <a:solidFill>
                  <a:schemeClr val="accent6"/>
                </a:solidFill>
              </a:rPr>
              <a:t>개발목표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기대효과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팀구성</a:t>
            </a:r>
            <a:endParaRPr lang="en-US" altLang="ko-KR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74487" y="1837813"/>
            <a:ext cx="9545326" cy="3246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600" b="1">
                <a:solidFill>
                  <a:srgbClr val="00D65E"/>
                </a:solidFill>
              </a:rPr>
              <a:t>개발 목표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1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 u="none" strike="noStrike"/>
              <a:t>사용자에게 설문 조사를 통해 데이터를 수집합니다</a:t>
            </a:r>
            <a:r>
              <a:rPr lang="EN-US" sz="1300" b="0" i="0" u="none" strike="noStrike"/>
              <a:t>.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3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 u="none" strike="noStrike"/>
              <a:t>사용자의 데이터를 통해 성별</a:t>
            </a:r>
            <a:r>
              <a:rPr lang="EN-US" sz="1300" b="0" i="0" u="none" strike="noStrike"/>
              <a:t>, </a:t>
            </a:r>
            <a:r>
              <a:rPr sz="1300" b="0" i="0" u="none" strike="noStrike"/>
              <a:t>나이</a:t>
            </a:r>
            <a:r>
              <a:rPr lang="EN-US" sz="1300" b="0" i="0" u="none" strike="noStrike"/>
              <a:t>, </a:t>
            </a:r>
            <a:r>
              <a:rPr sz="1300" b="0" i="0" u="none" strike="noStrike"/>
              <a:t>학력</a:t>
            </a:r>
            <a:r>
              <a:rPr lang="EN-US" sz="1300" b="0" i="0" u="none" strike="noStrike"/>
              <a:t>, </a:t>
            </a:r>
            <a:r>
              <a:rPr sz="1300" b="0" i="0" u="none" strike="noStrike"/>
              <a:t>수면시간</a:t>
            </a:r>
            <a:r>
              <a:rPr lang="EN-US" sz="1300" b="0" i="0" u="none" strike="noStrike"/>
              <a:t>, </a:t>
            </a:r>
            <a:r>
              <a:rPr sz="1300" b="0" i="0" u="none" strike="noStrike"/>
              <a:t>학습시간 등을 기준으로 사용자의 유형을 분석하고</a:t>
            </a:r>
            <a:r>
              <a:rPr lang="EN-US" sz="1300" b="0" i="0" u="none" strike="noStrike"/>
              <a:t>, </a:t>
            </a:r>
            <a:endParaRPr lang="en-US" sz="13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 u="none" strike="noStrike"/>
              <a:t>유형에 따라 효율적인 학습법을 제시합니다</a:t>
            </a:r>
            <a:r>
              <a:rPr lang="EN-US" sz="1300" b="0" i="0" u="none" strike="noStrike"/>
              <a:t>.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3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 u="none" strike="noStrike"/>
              <a:t>또한</a:t>
            </a:r>
            <a:r>
              <a:rPr lang="EN-US" sz="1300" b="0" i="0" u="none" strike="noStrike"/>
              <a:t>, </a:t>
            </a:r>
            <a:r>
              <a:rPr sz="1300" b="0" i="0" u="none" strike="noStrike"/>
              <a:t>일정 기간이 지나면 다시 사용자에게 설문을 요청해 변화된 값들을 파악하고 변경된 값이 있다면 </a:t>
            </a:r>
            <a:endParaRPr lang="en-US" altLang="ko-KR" sz="13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300" b="0" i="0" u="none" strike="noStrike"/>
              <a:t>유형에 맞게 수정한 다음 새로운 학습법을 제시합니다</a:t>
            </a:r>
            <a:r>
              <a:rPr lang="EN-US" sz="1300" b="0" i="0" u="none" strike="noStrike"/>
              <a:t>.</a:t>
            </a: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93C4E6B-7EB1-4630-9EDD-864EB791C0BA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>
                <a:solidFill>
                  <a:prstClr val="white"/>
                </a:solidFill>
              </a:rPr>
              <a:t>어시스턴트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개요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선정배경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개발목표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b="1" kern="0">
                <a:solidFill>
                  <a:schemeClr val="accent6"/>
                </a:solidFill>
              </a:rPr>
              <a:t>기대효과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팀구성</a:t>
            </a:r>
            <a:endParaRPr lang="en-US" altLang="ko-KR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74487" y="1837813"/>
            <a:ext cx="9545326" cy="360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600" b="1">
                <a:solidFill>
                  <a:srgbClr val="00D65E"/>
                </a:solidFill>
              </a:rPr>
              <a:t>기대 효과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1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/>
              <a:t>1. </a:t>
            </a:r>
            <a:r>
              <a:rPr sz="1300" b="0" i="0" u="none" strike="noStrike"/>
              <a:t>가족</a:t>
            </a:r>
            <a:r>
              <a:rPr lang="EN-US" sz="1300" b="0" i="0" u="none" strike="noStrike"/>
              <a:t>,</a:t>
            </a:r>
            <a:r>
              <a:rPr sz="1300" b="0" i="0" u="none" strike="noStrike"/>
              <a:t>친구 등 집단을 구성해 자기계발에 도움을 줄 수 있습니다</a:t>
            </a:r>
            <a:r>
              <a:rPr lang="EN-US" sz="1300" b="0" i="0" u="none" strike="noStrike"/>
              <a:t>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/>
              <a:t>2. </a:t>
            </a:r>
            <a:r>
              <a:rPr sz="1300" b="0" i="0" u="none" strike="noStrike"/>
              <a:t>학습뿐만 아닌 과제</a:t>
            </a:r>
            <a:r>
              <a:rPr lang="EN-US" sz="1300" b="0" i="0" u="none" strike="noStrike"/>
              <a:t>,</a:t>
            </a:r>
            <a:r>
              <a:rPr sz="1300" b="0" i="0" u="none" strike="noStrike"/>
              <a:t>운동 등의 성적향상을 목표로 합니다</a:t>
            </a:r>
            <a:r>
              <a:rPr lang="EN-US" sz="1300" b="0" i="0" u="none" strike="noStrike"/>
              <a:t>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/>
              <a:t>3. </a:t>
            </a:r>
            <a:r>
              <a:rPr sz="1300" b="0" i="0" u="none" strike="noStrike"/>
              <a:t>효율적인 학습법을 찾아 공부에 흥미를 느낄 수 있게 합니다</a:t>
            </a:r>
            <a:r>
              <a:rPr lang="EN-US" sz="1300" b="0" i="0" u="none" strike="noStrike"/>
              <a:t>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/>
              <a:t>4. </a:t>
            </a:r>
            <a:r>
              <a:rPr sz="1300" b="0" i="0" u="none" strike="noStrike"/>
              <a:t>목표달성에 대한 보상을 제시를 통해 학습동기</a:t>
            </a:r>
            <a:r>
              <a:rPr lang="EN-US" sz="1300" b="0" i="0" u="none" strike="noStrike"/>
              <a:t>,</a:t>
            </a:r>
            <a:r>
              <a:rPr lang="en-US" sz="1300" b="0" i="0" u="none" strike="noStrike"/>
              <a:t> </a:t>
            </a:r>
            <a:r>
              <a:rPr sz="1300" b="0" i="0" u="none" strike="noStrike"/>
              <a:t>성취감을 얻을 수 있습니다</a:t>
            </a:r>
            <a:r>
              <a:rPr lang="EN-US" sz="1300" b="0" i="0" u="none" strike="noStrike"/>
              <a:t>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b="0" i="0" u="none" strike="noStrike"/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1E699F4-74F6-4317-ADB1-A89131CBB129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>
                <a:solidFill>
                  <a:prstClr val="white"/>
                </a:solidFill>
              </a:rPr>
              <a:t>어시스턴트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5</a:t>
            </a:r>
            <a:endParaRPr lang="ko-KR" altLang="en-US" sz="1000">
              <a:solidFill>
                <a:prstClr val="white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개요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선정배경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개발목표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기대효과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b="1" kern="0">
                <a:solidFill>
                  <a:schemeClr val="accent6"/>
                </a:solidFill>
              </a:rPr>
              <a:t>팀구성</a:t>
            </a:r>
            <a:endParaRPr lang="en-US" altLang="ko-KR" sz="1000" kern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74487" y="1837813"/>
            <a:ext cx="9545326" cy="751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600" b="1">
                <a:solidFill>
                  <a:srgbClr val="00D65E"/>
                </a:solidFill>
              </a:rPr>
              <a:t>팀 구성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100" b="0" i="0" u="none" strike="noStrike"/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391014"/>
              </p:ext>
            </p:extLst>
          </p:nvPr>
        </p:nvGraphicFramePr>
        <p:xfrm>
          <a:off x="2320227" y="2301114"/>
          <a:ext cx="7951593" cy="3448271"/>
        </p:xfrm>
        <a:graphic>
          <a:graphicData uri="http://schemas.openxmlformats.org/drawingml/2006/table">
            <a:tbl>
              <a:tblPr firstRow="1" bandRow="1"/>
              <a:tblGrid>
                <a:gridCol w="783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3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090">
                <a:tc rowSpan="2"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이름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학번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이메일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역할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90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주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부</a:t>
                      </a:r>
                      <a:endParaRPr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1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김경수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ctr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20124619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just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studioarena24@gmail.com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어플리케이션 설계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어플리케이션 </a:t>
                      </a: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구현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데이터베이스 설계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데이터베이스 </a:t>
                      </a: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구현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1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김선비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20175160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rlatjsql12@gmail.com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학습자료 분석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학습법 알고리즘 구현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웹서버 설계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웹서버 </a:t>
                      </a: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구현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21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구명회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ctr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20154215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just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20154215@chosun.kr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데이터베이스 설계</a:t>
                      </a: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데이터베이스 구현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학습자료 분석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학습법 알고리즘 구현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21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박효정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ctr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20174302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just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haha115500@gmail.com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어플리케이션 설계</a:t>
                      </a: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어플리케이션 구현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학습자료 분석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latin typeface="함초롬바탕"/>
                        <a:ea typeface="함초롬바탕"/>
                      </a:endParaRP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학습법 알고리즘 구현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215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장자욱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20174619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3400" indent="-533400" algn="just">
                        <a:lnSpc>
                          <a:spcPct val="12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615060696@qq.com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 cap="flat" cmpd="sng" algn="ctr">
                      <a:solidFill>
                        <a:srgbClr val="C6E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웹서버 설계</a:t>
                      </a: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웹서버 구현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데이터베이스 설계</a:t>
                      </a:r>
                    </a:p>
                    <a:p>
                      <a:pPr algn="just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</a:rPr>
                        <a:t>데이터베이스 구현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087551-166E-4DA4-9A23-54016EE12D59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>
                <a:solidFill>
                  <a:prstClr val="white"/>
                </a:solidFill>
              </a:rPr>
              <a:t>어시스턴트</a:t>
            </a:r>
            <a:endParaRPr lang="ko-KR" altLang="en-US" sz="600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6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토론</a:t>
            </a:r>
            <a:r>
              <a:rPr lang="en-US" altLang="ko-KR" sz="24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b="1" kern="0">
                <a:solidFill>
                  <a:schemeClr val="accent6"/>
                </a:solidFill>
              </a:rPr>
              <a:t>일정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주제선정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주제세분화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구현환경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74487" y="1837814"/>
            <a:ext cx="9545326" cy="703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600" b="1">
                <a:solidFill>
                  <a:srgbClr val="00D65E"/>
                </a:solidFill>
              </a:rPr>
              <a:t>일정</a:t>
            </a:r>
          </a:p>
          <a:p>
            <a:pPr>
              <a:lnSpc>
                <a:spcPct val="150000"/>
              </a:lnSpc>
              <a:defRPr/>
            </a:pPr>
            <a:endParaRPr lang="en-US" altLang="ko-KR" sz="110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6" name="그림 55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3075709" y="1949449"/>
            <a:ext cx="7995641" cy="3891977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6F59DC0B-A278-44E8-8304-68F16DD66E4B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7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토론</a:t>
            </a: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일정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b="1" kern="0">
                <a:solidFill>
                  <a:schemeClr val="accent6"/>
                </a:solidFill>
              </a:rPr>
              <a:t>주제선정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주제세분화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구현환경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57" name="직사각형 49"/>
          <p:cNvSpPr/>
          <p:nvPr/>
        </p:nvSpPr>
        <p:spPr>
          <a:xfrm>
            <a:off x="1674487" y="1837813"/>
            <a:ext cx="9545326" cy="2424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600" b="1" i="0" u="none" strike="noStrike" kern="1200" cap="none" spc="0" normalizeH="0" baseline="0" dirty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주제 선정</a:t>
            </a:r>
          </a:p>
          <a:p>
            <a:pPr marL="381000" marR="190500" indent="0" algn="l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sz="1100" b="0" i="0" u="none" strike="noStrike" kern="1200" cap="none" spc="0" normalizeH="0" baseline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 indent="0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100" b="1" i="0" u="none" strike="noStrike" kern="1200" cap="none" spc="0" normalizeH="0" baseline="0" dirty="0">
                <a:solidFill>
                  <a:srgbClr val="289B6E"/>
                </a:solidFill>
                <a:latin typeface="맑은 고딕"/>
                <a:ea typeface="맑은 고딕"/>
                <a:cs typeface="맑은 고딕"/>
              </a:rPr>
              <a:t>동기부여 어플리케이션 개발</a:t>
            </a:r>
            <a:endParaRPr kumimoji="0" lang="ko-KR" altLang="en-US" sz="2100" b="0" i="0" u="none" strike="noStrike" kern="1200" cap="none" spc="0" normalizeH="0" baseline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 indent="0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lang="ko-KR" altLang="en-US" sz="2100" b="0" i="0" u="none" strike="noStrike" kern="1200" cap="none" spc="0" normalizeH="0" baseline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 indent="0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100" b="0" i="0" u="none" strike="noStrike" kern="1200" cap="none" spc="0" normalizeH="0" baseline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팀명</a:t>
            </a:r>
            <a:r>
              <a:rPr kumimoji="0" lang="ko-KR" altLang="en-US" sz="2100" b="0" i="0" u="none" strike="noStrike" kern="1200" cap="none" spc="0" normalizeH="0" baseline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kumimoji="0" lang="en-US" altLang="ko-KR" sz="2100" b="0" i="0" u="none" strike="noStrike" kern="1200" cap="none" spc="0" normalizeH="0" baseline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kumimoji="0" lang="ko-KR" altLang="en-US" sz="2100" b="0" i="0" u="none" strike="noStrike" kern="1200" cap="none" spc="0" normalizeH="0" baseline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kumimoji="0" lang="ko-KR" altLang="en-US" sz="2100" b="1" i="0" u="none" strike="noStrike" kern="1200" cap="none" spc="0" normalizeH="0" baseline="0" dirty="0">
                <a:solidFill>
                  <a:srgbClr val="1E7452"/>
                </a:solidFill>
                <a:latin typeface="맑은 고딕"/>
                <a:ea typeface="맑은 고딕"/>
                <a:cs typeface="맑은 고딕"/>
              </a:rPr>
              <a:t>어시스턴트</a:t>
            </a:r>
            <a:endParaRPr kumimoji="0" lang="ko-KR" altLang="en-US" sz="2100" b="0" i="0" u="none" strike="noStrike" kern="1200" cap="none" spc="0" normalizeH="0" baseline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7B60F04-ECDC-4A2C-89A4-C065C1A6E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049" y="2316735"/>
            <a:ext cx="4413252" cy="293990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ED875059-3655-4B87-89A1-CBAF52B8344C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8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토론</a:t>
            </a: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일정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주제선정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b="1" kern="0">
                <a:solidFill>
                  <a:schemeClr val="accent6"/>
                </a:solidFill>
              </a:rPr>
              <a:t>주제세분화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구현환경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57" name="직사각형 49"/>
          <p:cNvSpPr/>
          <p:nvPr/>
        </p:nvSpPr>
        <p:spPr>
          <a:xfrm>
            <a:off x="1674487" y="1837813"/>
            <a:ext cx="9545326" cy="3767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600" b="1" i="0" u="none" strike="noStrike" kern="1200" cap="none" spc="0" normalizeH="0" baseline="0" dirty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주제 세분화 </a:t>
            </a:r>
            <a:r>
              <a:rPr kumimoji="0" lang="en-US" altLang="ko-KR" sz="1600" b="1" i="0" u="none" strike="noStrike" kern="1200" cap="none" spc="0" normalizeH="0" baseline="0" dirty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	</a:t>
            </a:r>
            <a:endParaRPr kumimoji="0" sz="1100" b="0" i="0" u="none" strike="noStrike" kern="1200" cap="none" spc="0" normalizeH="0" baseline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dirty="0"/>
              <a:t>1</a:t>
            </a:r>
            <a:r>
              <a:rPr lang="en-US" altLang="ko-KR" sz="1100" b="0" i="0" u="none" strike="noStrike" dirty="0"/>
              <a:t>.</a:t>
            </a:r>
            <a:r>
              <a:rPr lang="EN-US" sz="1100" b="0" i="0" u="none" strike="noStrike" dirty="0"/>
              <a:t> </a:t>
            </a:r>
            <a:r>
              <a:rPr sz="1100" b="0" i="0" u="none" strike="noStrike" dirty="0" err="1"/>
              <a:t>학습법</a:t>
            </a:r>
            <a:endParaRPr sz="1100" b="0" i="0" u="none" strike="noStrike" dirty="0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 i="0" u="none" strike="noStrike" dirty="0" err="1"/>
              <a:t>최근의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학습유형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테스트들을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참고해서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설문지를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제작합니다</a:t>
            </a:r>
            <a:r>
              <a:rPr lang="EN-US" sz="1100" b="0" i="0" u="none" strike="noStrike" dirty="0"/>
              <a:t>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 i="0" u="none" strike="noStrike" dirty="0" err="1"/>
              <a:t>제작한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설문지를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통해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데이터를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수집하고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사용자의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유형을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분류합니다</a:t>
            </a:r>
            <a:r>
              <a:rPr lang="EN-US" sz="1100" b="0" i="0" u="none" strike="noStrike" dirty="0"/>
              <a:t>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0" i="0" u="none" strike="noStrike" dirty="0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dirty="0"/>
              <a:t>2</a:t>
            </a:r>
            <a:r>
              <a:rPr lang="en-US" altLang="ko-KR" sz="1100" b="0" i="0" u="none" strike="noStrike" dirty="0"/>
              <a:t>.</a:t>
            </a:r>
            <a:r>
              <a:rPr lang="EN-US" sz="1100" b="0" i="0" u="none" strike="noStrike" dirty="0"/>
              <a:t> idea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 i="0" u="none" strike="noStrike" dirty="0"/>
              <a:t>① </a:t>
            </a:r>
            <a:r>
              <a:rPr sz="1100" b="0" i="0" u="none" strike="noStrike" dirty="0" err="1"/>
              <a:t>학습법의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종류를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다양하게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늘려보자</a:t>
            </a:r>
            <a:r>
              <a:rPr lang="EN-US" sz="1100" b="0" i="0" u="none" strike="noStrike" dirty="0"/>
              <a:t>.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 i="0" u="none" strike="noStrike" dirty="0"/>
              <a:t>② </a:t>
            </a:r>
            <a:r>
              <a:rPr sz="1100" b="0" i="0" u="none" strike="noStrike" dirty="0" err="1"/>
              <a:t>학습법은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운동</a:t>
            </a:r>
            <a:r>
              <a:rPr lang="EN-US" sz="1100" b="0" i="0" u="none" strike="noStrike" dirty="0"/>
              <a:t>, </a:t>
            </a:r>
            <a:r>
              <a:rPr sz="1100" b="0" i="0" u="none" strike="noStrike" dirty="0" err="1"/>
              <a:t>노래</a:t>
            </a:r>
            <a:r>
              <a:rPr lang="EN-US" sz="1100" b="0" i="0" u="none" strike="noStrike" dirty="0"/>
              <a:t>, </a:t>
            </a:r>
            <a:r>
              <a:rPr sz="1100" b="0" i="0" u="none" strike="noStrike" dirty="0" err="1"/>
              <a:t>음식</a:t>
            </a:r>
            <a:r>
              <a:rPr lang="EN-US" sz="1100" b="0" i="0" u="none" strike="noStrike" dirty="0"/>
              <a:t>, </a:t>
            </a:r>
            <a:r>
              <a:rPr sz="1100" b="0" i="0" u="none" strike="noStrike" dirty="0" err="1"/>
              <a:t>게임</a:t>
            </a:r>
            <a:r>
              <a:rPr sz="1100" b="0" i="0" u="none" strike="noStrike" dirty="0"/>
              <a:t> 등 </a:t>
            </a:r>
            <a:r>
              <a:rPr sz="1100" b="0" i="0" u="none" strike="noStrike" dirty="0" err="1"/>
              <a:t>공부에만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국한되지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않음을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고려</a:t>
            </a:r>
            <a:endParaRPr sz="1100" b="0" i="0" u="none" strike="noStrike" dirty="0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 i="0" u="none" strike="noStrike" dirty="0"/>
              <a:t>③ </a:t>
            </a:r>
            <a:r>
              <a:rPr sz="1100" b="0" i="0" u="none" strike="noStrike" dirty="0" err="1"/>
              <a:t>그럼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효율적인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운동법이나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오늘의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노래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추천해주는건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어떤가</a:t>
            </a:r>
            <a:r>
              <a:rPr lang="EN-US" sz="1100" b="0" i="0" u="none" strike="noStrike" dirty="0"/>
              <a:t>?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100" b="0" i="0" u="none" strike="noStrike" dirty="0"/>
              <a:t>④ </a:t>
            </a:r>
            <a:r>
              <a:rPr sz="1100" b="0" i="0" u="none" strike="noStrike" dirty="0" err="1"/>
              <a:t>어떤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기준으로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유형을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분류하고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랜덤으로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그와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비슷한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노래</a:t>
            </a:r>
            <a:r>
              <a:rPr sz="1100" b="0" i="0" u="none" strike="noStrike" dirty="0"/>
              <a:t> 추</a:t>
            </a:r>
            <a:r>
              <a:rPr lang="ko-KR" altLang="en-US" sz="1100" b="0" i="0" u="none" strike="noStrike" dirty="0"/>
              <a:t>천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100" b="0" i="0" u="none" strike="noStrike" dirty="0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0" i="0" u="none" strike="noStrike" dirty="0"/>
              <a:t>3</a:t>
            </a:r>
            <a:r>
              <a:rPr lang="en-US" altLang="ko-KR" sz="1100" b="0" i="0" u="none" strike="noStrike" dirty="0"/>
              <a:t>.</a:t>
            </a:r>
            <a:r>
              <a:rPr lang="EN-US" sz="1100" b="0" i="0" u="none" strike="noStrike" dirty="0"/>
              <a:t> </a:t>
            </a:r>
            <a:r>
              <a:rPr sz="1100" b="0" i="0" u="none" strike="noStrike" dirty="0" err="1"/>
              <a:t>어플리케이션</a:t>
            </a:r>
            <a:r>
              <a:rPr sz="1100" b="0" i="0" u="none" strike="noStrike" dirty="0"/>
              <a:t> </a:t>
            </a:r>
            <a:r>
              <a:rPr sz="1100" b="0" i="0" u="none" strike="noStrike" dirty="0" err="1"/>
              <a:t>설계</a:t>
            </a:r>
            <a:r>
              <a:rPr sz="1100" b="0" i="0" u="none" strike="noStrike" dirty="0"/>
              <a:t> </a:t>
            </a:r>
            <a:r>
              <a:rPr lang="EN-US" sz="1100" b="0" i="0" u="none" strike="noStrike" dirty="0"/>
              <a:t>(2020.3.30)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968D4AD-3F79-449D-AD93-D169E55FC93E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9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토론</a:t>
            </a:r>
            <a:r>
              <a:rPr lang="en-US" altLang="ko-KR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일정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주제선정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주제세분화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b="1" kern="0">
                <a:solidFill>
                  <a:schemeClr val="accent6"/>
                </a:solidFill>
              </a:rPr>
              <a:t>구현환경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57" name="직사각형 49"/>
          <p:cNvSpPr/>
          <p:nvPr/>
        </p:nvSpPr>
        <p:spPr>
          <a:xfrm>
            <a:off x="1674487" y="1837813"/>
            <a:ext cx="9545326" cy="116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600" b="1" i="0" u="none" strike="noStrike" kern="1200" cap="none" spc="0" normalizeH="0" baseline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구현 환경</a:t>
            </a:r>
          </a:p>
          <a:p>
            <a:pPr marL="381000" marR="190500" indent="0" algn="l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lang="EN-US" sz="1300" b="0" i="0" u="none" strike="noStrike" kern="1200" cap="none" spc="0" normalizeH="0" baseline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381000" marR="190500" indent="0" algn="l" defTabSz="914400" rtl="0" eaLnBrk="1" latinLnBrk="1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kumimoji="0" lang="EN-US" sz="1300" b="0" i="0" u="none" strike="noStrike" kern="1200" cap="none" spc="0" normalizeH="0" baseline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8" name="그림 57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3181350" y="2409824"/>
            <a:ext cx="6495310" cy="314007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1C9DC615-4D59-4B04-A14B-638ED3E247B1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10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설계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b="1" kern="0">
                <a:solidFill>
                  <a:schemeClr val="accent6"/>
                </a:solidFill>
              </a:rPr>
              <a:t>로그인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회원가입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메인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설문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목표부여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목표달성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채팅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838799" y="1646917"/>
            <a:ext cx="75404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017637" y="1875915"/>
            <a:ext cx="6697711" cy="3446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600" b="1" dirty="0">
                <a:solidFill>
                  <a:srgbClr val="00D65E"/>
                </a:solidFill>
              </a:rPr>
              <a:t>로그인 화면</a:t>
            </a:r>
          </a:p>
          <a:p>
            <a:pPr>
              <a:lnSpc>
                <a:spcPct val="150000"/>
              </a:lnSpc>
              <a:defRPr/>
            </a:pPr>
            <a:endParaRPr lang="ko-KR" altLang="en-US" sz="1600" b="1" dirty="0">
              <a:solidFill>
                <a:srgbClr val="00D65E"/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2300" dirty="0">
                <a:solidFill>
                  <a:prstClr val="white">
                    <a:lumMod val="50000"/>
                  </a:prstClr>
                </a:solidFill>
              </a:rPr>
              <a:t>ID, PW </a:t>
            </a:r>
            <a:r>
              <a:rPr lang="ko-KR" altLang="en-US" sz="2300" dirty="0" err="1">
                <a:solidFill>
                  <a:prstClr val="white">
                    <a:lumMod val="50000"/>
                  </a:prstClr>
                </a:solidFill>
              </a:rPr>
              <a:t>입력창</a:t>
            </a:r>
            <a:endParaRPr lang="ko-KR" altLang="en-US" sz="2300" dirty="0">
              <a:solidFill>
                <a:prstClr val="white">
                  <a:lumMod val="50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endParaRPr lang="ko-KR" altLang="en-US" sz="2300" dirty="0">
              <a:solidFill>
                <a:prstClr val="white">
                  <a:lumMod val="50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2300" dirty="0">
                <a:solidFill>
                  <a:prstClr val="white">
                    <a:lumMod val="50000"/>
                  </a:prstClr>
                </a:solidFill>
              </a:rPr>
              <a:t>로그인 버튼</a:t>
            </a:r>
          </a:p>
          <a:p>
            <a:pPr algn="ctr">
              <a:lnSpc>
                <a:spcPct val="150000"/>
              </a:lnSpc>
              <a:defRPr/>
            </a:pPr>
            <a:endParaRPr lang="ko-KR" altLang="en-US" sz="2300" dirty="0">
              <a:solidFill>
                <a:prstClr val="white">
                  <a:lumMod val="50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2300" dirty="0">
                <a:solidFill>
                  <a:prstClr val="white">
                    <a:lumMod val="50000"/>
                  </a:prstClr>
                </a:solidFill>
              </a:rPr>
              <a:t>회원가입 버튼</a:t>
            </a: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6" name="그림 55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302384" y="1629092"/>
            <a:ext cx="2436495" cy="4352925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35730F0-6432-4D53-A423-F5B16EC624BD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11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설계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로그인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b="1" kern="0">
                <a:solidFill>
                  <a:schemeClr val="accent6"/>
                </a:solidFill>
              </a:rPr>
              <a:t>회원가입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메인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설문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목표부여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목표달성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채팅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562824" y="1646917"/>
            <a:ext cx="5816376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58" name="직사각형 49"/>
          <p:cNvSpPr/>
          <p:nvPr/>
        </p:nvSpPr>
        <p:spPr>
          <a:xfrm>
            <a:off x="5836913" y="1875915"/>
            <a:ext cx="5087623" cy="3446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600" b="1" i="0" u="none" strike="noStrike" kern="1200" cap="none" spc="0" normalizeH="0" baseline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회원가입 화면</a:t>
            </a:r>
          </a:p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600" b="1" i="0" u="none" strike="noStrike" kern="1200" cap="none" spc="0" normalizeH="0" baseline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이용약관</a:t>
            </a:r>
            <a:r>
              <a:rPr kumimoji="0" lang="en-US" altLang="ko-KR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kumimoji="0" lang="ko-KR" altLang="en-US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 개인정보 보호 동의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계정 생성을 위한 입력창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가입 취소</a:t>
            </a:r>
            <a:r>
              <a:rPr kumimoji="0" lang="en-US" altLang="ko-KR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kumimoji="0" lang="ko-KR" altLang="en-US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승인 버튼</a:t>
            </a:r>
          </a:p>
        </p:txBody>
      </p:sp>
      <p:pic>
        <p:nvPicPr>
          <p:cNvPr id="59" name="그림 58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175131" y="1664589"/>
            <a:ext cx="4306697" cy="4297172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74E950-72FC-41A8-AC4E-E6A17CADE4FB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12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설계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로그인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회원가입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b="1" kern="0">
                <a:solidFill>
                  <a:schemeClr val="accent6"/>
                </a:solidFill>
              </a:rPr>
              <a:t>메인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설문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목표부여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목표달성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채팅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838799" y="1646917"/>
            <a:ext cx="75404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8" name="그림 57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375410" y="1648142"/>
            <a:ext cx="2331339" cy="4323715"/>
          </a:xfrm>
          <a:prstGeom prst="rect">
            <a:avLst/>
          </a:prstGeom>
        </p:spPr>
      </p:pic>
      <p:sp>
        <p:nvSpPr>
          <p:cNvPr id="59" name="직사각형 49"/>
          <p:cNvSpPr/>
          <p:nvPr/>
        </p:nvSpPr>
        <p:spPr>
          <a:xfrm>
            <a:off x="4017637" y="1875915"/>
            <a:ext cx="7106083" cy="3446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600" b="1" i="0" u="none" strike="noStrike" kern="1200" cap="none" spc="0" normalizeH="0" baseline="0" dirty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메인 화면</a:t>
            </a:r>
            <a:r>
              <a:rPr kumimoji="0" lang="en-US" altLang="ko-KR" sz="1600" b="1" i="0" u="none" strike="noStrike" kern="1200" cap="none" spc="0" normalizeH="0" baseline="0" dirty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1</a:t>
            </a:r>
          </a:p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600" b="1" i="0" u="none" strike="noStrike" kern="1200" cap="none" spc="0" normalizeH="0" baseline="0" dirty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사용자 정보 </a:t>
            </a:r>
            <a:r>
              <a:rPr kumimoji="0" lang="ko-KR" altLang="en-US" sz="2300" b="0" i="0" u="none" strike="noStrike" kern="1200" cap="none" spc="0" normalizeH="0" baseline="0" dirty="0" err="1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출력창</a:t>
            </a:r>
            <a:endParaRPr kumimoji="0" lang="ko-KR" altLang="en-US" sz="2300" b="0" i="0" u="none" strike="noStrike" kern="1200" cap="none" spc="0" normalizeH="0" baseline="0" dirty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 dirty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설정 버튼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 dirty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목표 달성</a:t>
            </a:r>
            <a:r>
              <a:rPr kumimoji="0" lang="en-US" altLang="ko-KR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부여 버튼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13CE3FB-5928-4777-B290-9E7066BAABFF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13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838799" y="1646917"/>
            <a:ext cx="75404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8" name="그림 57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370965" y="1633474"/>
            <a:ext cx="2369439" cy="4344797"/>
          </a:xfrm>
          <a:prstGeom prst="rect">
            <a:avLst/>
          </a:prstGeom>
        </p:spPr>
      </p:pic>
      <p:sp>
        <p:nvSpPr>
          <p:cNvPr id="59" name="직사각형 49"/>
          <p:cNvSpPr/>
          <p:nvPr/>
        </p:nvSpPr>
        <p:spPr>
          <a:xfrm>
            <a:off x="4017637" y="1875915"/>
            <a:ext cx="7026184" cy="2398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600" b="1" i="0" u="none" strike="noStrike" kern="1200" cap="none" spc="0" normalizeH="0" baseline="0" dirty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메인 화면</a:t>
            </a:r>
            <a:r>
              <a:rPr kumimoji="0" lang="en-US" altLang="ko-KR" sz="1600" b="1" i="0" u="none" strike="noStrike" kern="1200" cap="none" spc="0" normalizeH="0" baseline="0" dirty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2</a:t>
            </a:r>
          </a:p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600" b="1" i="0" u="none" strike="noStrike" kern="1200" cap="none" spc="0" normalizeH="0" baseline="0" dirty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 dirty="0" err="1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미실시</a:t>
            </a: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 설문 알림 정보 출력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 dirty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해당 설문 수락</a:t>
            </a:r>
            <a:r>
              <a:rPr kumimoji="0" lang="en-US" altLang="ko-KR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거절 버튼</a:t>
            </a:r>
          </a:p>
        </p:txBody>
      </p:sp>
      <p:sp>
        <p:nvSpPr>
          <p:cNvPr id="61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600" b="1" i="1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  <a:p>
            <a: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로그인</a:t>
            </a:r>
            <a:r>
              <a:rPr kumimoji="0" lang="en-US" altLang="ko-KR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&gt;</a:t>
            </a:r>
            <a:r>
              <a:rPr kumimoji="0" lang="ko-KR" altLang="en-US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회원가입</a:t>
            </a:r>
            <a:r>
              <a:rPr kumimoji="0" lang="en-US" altLang="ko-KR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&gt;</a:t>
            </a:r>
            <a:r>
              <a:rPr kumimoji="0" lang="ko-KR" altLang="en-US" sz="1000" b="1" i="0" u="none" strike="noStrike" kern="0" cap="none" spc="0" normalizeH="0" baseline="0">
                <a:solidFill>
                  <a:srgbClr val="70AD47"/>
                </a:solidFill>
                <a:latin typeface="맑은 고딕"/>
                <a:ea typeface="맑은 고딕"/>
                <a:cs typeface="맑은 고딕"/>
              </a:rPr>
              <a:t>메인</a:t>
            </a:r>
            <a:r>
              <a:rPr kumimoji="0" lang="en-US" altLang="ko-KR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&gt;</a:t>
            </a:r>
            <a:r>
              <a:rPr kumimoji="0" lang="ko-KR" altLang="en-US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설문</a:t>
            </a:r>
            <a:r>
              <a:rPr kumimoji="0" lang="en-US" altLang="ko-KR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&gt;</a:t>
            </a:r>
            <a:r>
              <a:rPr kumimoji="0" lang="ko-KR" altLang="en-US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목표부여</a:t>
            </a:r>
            <a:r>
              <a:rPr kumimoji="0" lang="en-US" altLang="ko-KR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&gt;</a:t>
            </a:r>
            <a:r>
              <a:rPr kumimoji="0" lang="ko-KR" altLang="en-US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목표달성</a:t>
            </a:r>
            <a:r>
              <a:rPr kumimoji="0" lang="en-US" altLang="ko-KR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&gt;</a:t>
            </a:r>
            <a:r>
              <a:rPr kumimoji="0" lang="ko-KR" altLang="en-US" sz="1000" b="0" i="0" u="none" strike="noStrike" kern="0" cap="none" spc="0" normalizeH="0" baseline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채팅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393ED6C-53E3-4BC9-B472-0E81CE0445CF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14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설계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로그인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회원가입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메인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b="1" kern="0">
                <a:solidFill>
                  <a:schemeClr val="accent6"/>
                </a:solidFill>
              </a:rPr>
              <a:t>설문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목표부여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목표달성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채팅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838799" y="1646917"/>
            <a:ext cx="75404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8" name="그림 57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456689" y="1666874"/>
            <a:ext cx="2315210" cy="4297172"/>
          </a:xfrm>
          <a:prstGeom prst="rect">
            <a:avLst/>
          </a:prstGeom>
        </p:spPr>
      </p:pic>
      <p:sp>
        <p:nvSpPr>
          <p:cNvPr id="59" name="직사각형 49"/>
          <p:cNvSpPr/>
          <p:nvPr/>
        </p:nvSpPr>
        <p:spPr>
          <a:xfrm>
            <a:off x="4017637" y="1875915"/>
            <a:ext cx="7043940" cy="3084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600" b="1" i="0" u="none" strike="noStrike" kern="1200" cap="none" spc="0" normalizeH="0" baseline="0" dirty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설문 화면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설문 질문 창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 dirty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kumimoji="0" lang="ko-KR" altLang="en-US" sz="23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지선다 체크박스</a:t>
            </a:r>
            <a:endParaRPr kumimoji="0" lang="ko-KR" altLang="en-US" sz="2300" b="0" i="0" u="none" strike="noStrike" kern="1200" cap="none" spc="0" normalizeH="0" baseline="0" dirty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 dirty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취소</a:t>
            </a:r>
            <a:r>
              <a:rPr kumimoji="0" lang="en-US" altLang="ko-KR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완료 버튼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5DF64AC-AFF3-455E-AAF5-D42D580F18D9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설계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로그인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회원가입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메인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설문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b="1" kern="0">
                <a:solidFill>
                  <a:schemeClr val="accent6"/>
                </a:solidFill>
              </a:rPr>
              <a:t>목표부여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목표달성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채팅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829524" y="1646917"/>
            <a:ext cx="5549676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9" name="그림 58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310259" y="1647126"/>
            <a:ext cx="4407408" cy="4287647"/>
          </a:xfrm>
          <a:prstGeom prst="rect">
            <a:avLst/>
          </a:prstGeom>
        </p:spPr>
      </p:pic>
      <p:sp>
        <p:nvSpPr>
          <p:cNvPr id="60" name="직사각형 49"/>
          <p:cNvSpPr/>
          <p:nvPr/>
        </p:nvSpPr>
        <p:spPr>
          <a:xfrm>
            <a:off x="5998836" y="1875915"/>
            <a:ext cx="5182876" cy="4475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600" b="1" i="0" u="none" strike="noStrike" kern="1200" cap="none" spc="0" normalizeH="0" baseline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목표 부여 화면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2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사용자들의 정보 출력 창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2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2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검색</a:t>
            </a:r>
            <a:r>
              <a:rPr kumimoji="0" lang="en-US" altLang="ko-KR" sz="22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kumimoji="0" lang="ko-KR" altLang="en-US" sz="22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 채팅 버튼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2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2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이름</a:t>
            </a:r>
            <a:r>
              <a:rPr kumimoji="0" lang="en-US" altLang="ko-KR" sz="22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kumimoji="0" lang="ko-KR" altLang="en-US" sz="22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목적 정보 입력 창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2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2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목표 부여</a:t>
            </a:r>
            <a:r>
              <a:rPr kumimoji="0" lang="en-US" altLang="ko-KR" sz="22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kumimoji="0" lang="ko-KR" altLang="en-US" sz="22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달성 확인 버튼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2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F4F5F0E-ED69-425C-80F1-29D3FF33FC82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16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설계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로그인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회원가입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메인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설문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목표부여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b="1" kern="0">
                <a:solidFill>
                  <a:schemeClr val="accent6"/>
                </a:solidFill>
              </a:rPr>
              <a:t>목표달성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채팅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838799" y="1646917"/>
            <a:ext cx="75404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8" name="그림 57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338453" y="1629092"/>
            <a:ext cx="2436114" cy="4361815"/>
          </a:xfrm>
          <a:prstGeom prst="rect">
            <a:avLst/>
          </a:prstGeom>
        </p:spPr>
      </p:pic>
      <p:sp>
        <p:nvSpPr>
          <p:cNvPr id="59" name="직사각형 49"/>
          <p:cNvSpPr/>
          <p:nvPr/>
        </p:nvSpPr>
        <p:spPr>
          <a:xfrm>
            <a:off x="4017637" y="1875915"/>
            <a:ext cx="7150472" cy="3446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600" b="1" i="0" u="none" strike="noStrike" kern="1200" cap="none" spc="0" normalizeH="0" baseline="0" dirty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목표 달성 화면</a:t>
            </a:r>
          </a:p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600" b="1" i="0" u="none" strike="noStrike" kern="1200" cap="none" spc="0" normalizeH="0" baseline="0" dirty="0">
              <a:solidFill>
                <a:srgbClr val="00D65E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사용자 정보 </a:t>
            </a:r>
            <a:r>
              <a:rPr kumimoji="0" lang="ko-KR" altLang="en-US" sz="2300" b="0" i="0" u="none" strike="noStrike" kern="1200" cap="none" spc="0" normalizeH="0" baseline="0" dirty="0" err="1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출력창</a:t>
            </a:r>
            <a:endParaRPr kumimoji="0" lang="ko-KR" altLang="en-US" sz="2300" b="0" i="0" u="none" strike="noStrike" kern="1200" cap="none" spc="0" normalizeH="0" baseline="0" dirty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 dirty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내용</a:t>
            </a:r>
            <a:r>
              <a:rPr kumimoji="0" lang="en-US" altLang="ko-KR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목적 정보 출력 창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300" b="0" i="0" u="none" strike="noStrike" kern="1200" cap="none" spc="0" normalizeH="0" baseline="0" dirty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kumimoji="0" lang="en-US" altLang="ko-KR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kumimoji="0" lang="ko-KR" altLang="en-US" sz="2300" b="0" i="0" u="none" strike="noStrike" kern="1200" cap="none" spc="0" normalizeH="0" baseline="0" dirty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채팅 버튼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6FB2E5-278D-40D7-9827-81FC001140ED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17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7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설계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로그인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회원가입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메인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설문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목표부여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목표달성</a:t>
            </a:r>
            <a:r>
              <a:rPr lang="en-US" altLang="ko-KR" sz="1000" kern="0">
                <a:solidFill>
                  <a:prstClr val="black">
                    <a:lumMod val="65000"/>
                    <a:lumOff val="35000"/>
                  </a:prstClr>
                </a:solidFill>
              </a:rPr>
              <a:t>&gt;</a:t>
            </a:r>
            <a:r>
              <a:rPr lang="ko-KR" altLang="en-US" sz="1000" b="1" kern="0">
                <a:solidFill>
                  <a:schemeClr val="accent6"/>
                </a:solidFill>
              </a:rPr>
              <a:t>채팅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600924" y="1646917"/>
            <a:ext cx="5778276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pic>
        <p:nvPicPr>
          <p:cNvPr id="58" name="그림 57"/>
          <p:cNvPicPr/>
          <p:nvPr/>
        </p:nvPicPr>
        <p:blipFill rotWithShape="1">
          <a:blip r:embed="rId3">
            <a:lum/>
          </a:blip>
          <a:srcRect/>
          <a:stretch>
            <a:fillRect/>
          </a:stretch>
        </p:blipFill>
        <p:spPr>
          <a:xfrm>
            <a:off x="1235076" y="1629092"/>
            <a:ext cx="4236465" cy="4295140"/>
          </a:xfrm>
          <a:prstGeom prst="rect">
            <a:avLst/>
          </a:prstGeom>
        </p:spPr>
      </p:pic>
      <p:sp>
        <p:nvSpPr>
          <p:cNvPr id="59" name="직사각형 49"/>
          <p:cNvSpPr/>
          <p:nvPr/>
        </p:nvSpPr>
        <p:spPr>
          <a:xfrm>
            <a:off x="5789287" y="1875914"/>
            <a:ext cx="5401950" cy="3951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600" b="1" i="0" u="none" strike="noStrike" kern="1200" cap="none" spc="0" normalizeH="0" baseline="0">
                <a:solidFill>
                  <a:srgbClr val="00D65E"/>
                </a:solidFill>
                <a:latin typeface="맑은 고딕"/>
                <a:ea typeface="맑은 고딕"/>
                <a:cs typeface="맑은 고딕"/>
              </a:rPr>
              <a:t>목표 달성 화면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7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사용자 정보 출력 창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7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7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목표 부여 상태 출력 창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7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7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채팅 입력 창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7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7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채팅 내용 출력 창</a:t>
            </a: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700" b="0" i="0" u="none" strike="noStrike" kern="1200" cap="none" spc="0" normalizeH="0" baseline="0">
              <a:solidFill>
                <a:srgbClr val="80808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700" b="0" i="0" u="none" strike="noStrike" kern="1200" cap="none" spc="0" normalizeH="0" baseline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나가기 버튼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589C247-BE23-40D1-9D85-6D464DEF88B1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한쪽 모서리가 둥근 사각형 35"/>
          <p:cNvSpPr/>
          <p:nvPr/>
        </p:nvSpPr>
        <p:spPr>
          <a:xfrm>
            <a:off x="0" y="0"/>
            <a:ext cx="3848100" cy="5549900"/>
          </a:xfrm>
          <a:prstGeom prst="round1Rect">
            <a:avLst>
              <a:gd name="adj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36537" y="304800"/>
            <a:ext cx="11669713" cy="6265862"/>
          </a:xfrm>
          <a:prstGeom prst="roundRect">
            <a:avLst>
              <a:gd name="adj" fmla="val 4810"/>
            </a:avLst>
          </a:prstGeom>
          <a:solidFill>
            <a:srgbClr val="264259"/>
          </a:solidFill>
          <a:ln w="63500">
            <a:solidFill>
              <a:schemeClr val="tx2">
                <a:lumMod val="50000"/>
              </a:schemeClr>
            </a:solidFill>
          </a:ln>
          <a:effectLst>
            <a:outerShdw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 rot="5400000">
            <a:off x="3271463" y="-2062957"/>
            <a:ext cx="6192000" cy="11001376"/>
          </a:xfrm>
          <a:prstGeom prst="round2SameRect">
            <a:avLst>
              <a:gd name="adj1" fmla="val 4506"/>
              <a:gd name="adj2" fmla="val 0"/>
            </a:avLst>
          </a:prstGeom>
          <a:solidFill>
            <a:schemeClr val="bg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1574800" y="1863725"/>
            <a:ext cx="73025" cy="85725"/>
          </a:xfrm>
          <a:custGeom>
            <a:avLst/>
            <a:gdLst>
              <a:gd name="connsiteX0" fmla="*/ 0 w 73025"/>
              <a:gd name="connsiteY0" fmla="*/ 31750 h 85725"/>
              <a:gd name="connsiteX1" fmla="*/ 31750 w 73025"/>
              <a:gd name="connsiteY1" fmla="*/ 85725 h 85725"/>
              <a:gd name="connsiteX2" fmla="*/ 73025 w 73025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25" h="85725">
                <a:moveTo>
                  <a:pt x="0" y="31750"/>
                </a:moveTo>
                <a:lnTo>
                  <a:pt x="31750" y="85725"/>
                </a:lnTo>
                <a:lnTo>
                  <a:pt x="73025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Freeform 9"/>
          <p:cNvSpPr/>
          <p:nvPr/>
        </p:nvSpPr>
        <p:spPr>
          <a:xfrm>
            <a:off x="477298" y="2470961"/>
            <a:ext cx="141676" cy="186968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3" name="Freeform 36"/>
          <p:cNvSpPr>
            <a:spLocks noEditPoints="1"/>
          </p:cNvSpPr>
          <p:nvPr/>
        </p:nvSpPr>
        <p:spPr>
          <a:xfrm>
            <a:off x="491434" y="4397002"/>
            <a:ext cx="113404" cy="190736"/>
          </a:xfrm>
          <a:custGeom>
            <a:avLst/>
            <a:gdLst>
              <a:gd name="T0" fmla="*/ 937 w 1926"/>
              <a:gd name="T1" fmla="*/ 3639 h 4045"/>
              <a:gd name="T2" fmla="*/ 893 w 1926"/>
              <a:gd name="T3" fmla="*/ 3665 h 4045"/>
              <a:gd name="T4" fmla="*/ 863 w 1926"/>
              <a:gd name="T5" fmla="*/ 3712 h 4045"/>
              <a:gd name="T6" fmla="*/ 851 w 1926"/>
              <a:gd name="T7" fmla="*/ 3772 h 4045"/>
              <a:gd name="T8" fmla="*/ 863 w 1926"/>
              <a:gd name="T9" fmla="*/ 3832 h 4045"/>
              <a:gd name="T10" fmla="*/ 893 w 1926"/>
              <a:gd name="T11" fmla="*/ 3878 h 4045"/>
              <a:gd name="T12" fmla="*/ 937 w 1926"/>
              <a:gd name="T13" fmla="*/ 3905 h 4045"/>
              <a:gd name="T14" fmla="*/ 988 w 1926"/>
              <a:gd name="T15" fmla="*/ 3905 h 4045"/>
              <a:gd name="T16" fmla="*/ 1033 w 1926"/>
              <a:gd name="T17" fmla="*/ 3878 h 4045"/>
              <a:gd name="T18" fmla="*/ 1064 w 1926"/>
              <a:gd name="T19" fmla="*/ 3832 h 4045"/>
              <a:gd name="T20" fmla="*/ 1075 w 1926"/>
              <a:gd name="T21" fmla="*/ 3772 h 4045"/>
              <a:gd name="T22" fmla="*/ 1064 w 1926"/>
              <a:gd name="T23" fmla="*/ 3712 h 4045"/>
              <a:gd name="T24" fmla="*/ 1033 w 1926"/>
              <a:gd name="T25" fmla="*/ 3665 h 4045"/>
              <a:gd name="T26" fmla="*/ 988 w 1926"/>
              <a:gd name="T27" fmla="*/ 3639 h 4045"/>
              <a:gd name="T28" fmla="*/ 156 w 1926"/>
              <a:gd name="T29" fmla="*/ 434 h 4045"/>
              <a:gd name="T30" fmla="*/ 1770 w 1926"/>
              <a:gd name="T31" fmla="*/ 3540 h 4045"/>
              <a:gd name="T32" fmla="*/ 156 w 1926"/>
              <a:gd name="T33" fmla="*/ 434 h 4045"/>
              <a:gd name="T34" fmla="*/ 716 w 1926"/>
              <a:gd name="T35" fmla="*/ 200 h 4045"/>
              <a:gd name="T36" fmla="*/ 701 w 1926"/>
              <a:gd name="T37" fmla="*/ 217 h 4045"/>
              <a:gd name="T38" fmla="*/ 701 w 1926"/>
              <a:gd name="T39" fmla="*/ 243 h 4045"/>
              <a:gd name="T40" fmla="*/ 716 w 1926"/>
              <a:gd name="T41" fmla="*/ 260 h 4045"/>
              <a:gd name="T42" fmla="*/ 1199 w 1926"/>
              <a:gd name="T43" fmla="*/ 262 h 4045"/>
              <a:gd name="T44" fmla="*/ 1218 w 1926"/>
              <a:gd name="T45" fmla="*/ 254 h 4045"/>
              <a:gd name="T46" fmla="*/ 1226 w 1926"/>
              <a:gd name="T47" fmla="*/ 230 h 4045"/>
              <a:gd name="T48" fmla="*/ 1218 w 1926"/>
              <a:gd name="T49" fmla="*/ 207 h 4045"/>
              <a:gd name="T50" fmla="*/ 1199 w 1926"/>
              <a:gd name="T51" fmla="*/ 197 h 4045"/>
              <a:gd name="T52" fmla="*/ 224 w 1926"/>
              <a:gd name="T53" fmla="*/ 0 h 4045"/>
              <a:gd name="T54" fmla="*/ 1738 w 1926"/>
              <a:gd name="T55" fmla="*/ 4 h 4045"/>
              <a:gd name="T56" fmla="*/ 1805 w 1926"/>
              <a:gd name="T57" fmla="*/ 31 h 4045"/>
              <a:gd name="T58" fmla="*/ 1860 w 1926"/>
              <a:gd name="T59" fmla="*/ 81 h 4045"/>
              <a:gd name="T60" fmla="*/ 1900 w 1926"/>
              <a:gd name="T61" fmla="*/ 148 h 4045"/>
              <a:gd name="T62" fmla="*/ 1923 w 1926"/>
              <a:gd name="T63" fmla="*/ 229 h 4045"/>
              <a:gd name="T64" fmla="*/ 1926 w 1926"/>
              <a:gd name="T65" fmla="*/ 3772 h 4045"/>
              <a:gd name="T66" fmla="*/ 1915 w 1926"/>
              <a:gd name="T67" fmla="*/ 3857 h 4045"/>
              <a:gd name="T68" fmla="*/ 1882 w 1926"/>
              <a:gd name="T69" fmla="*/ 3932 h 4045"/>
              <a:gd name="T70" fmla="*/ 1834 w 1926"/>
              <a:gd name="T71" fmla="*/ 3992 h 4045"/>
              <a:gd name="T72" fmla="*/ 1773 w 1926"/>
              <a:gd name="T73" fmla="*/ 4032 h 4045"/>
              <a:gd name="T74" fmla="*/ 1702 w 1926"/>
              <a:gd name="T75" fmla="*/ 4045 h 4045"/>
              <a:gd name="T76" fmla="*/ 188 w 1926"/>
              <a:gd name="T77" fmla="*/ 4041 h 4045"/>
              <a:gd name="T78" fmla="*/ 122 w 1926"/>
              <a:gd name="T79" fmla="*/ 4014 h 4045"/>
              <a:gd name="T80" fmla="*/ 66 w 1926"/>
              <a:gd name="T81" fmla="*/ 3964 h 4045"/>
              <a:gd name="T82" fmla="*/ 25 w 1926"/>
              <a:gd name="T83" fmla="*/ 3897 h 4045"/>
              <a:gd name="T84" fmla="*/ 3 w 1926"/>
              <a:gd name="T85" fmla="*/ 3816 h 4045"/>
              <a:gd name="T86" fmla="*/ 0 w 1926"/>
              <a:gd name="T87" fmla="*/ 273 h 4045"/>
              <a:gd name="T88" fmla="*/ 12 w 1926"/>
              <a:gd name="T89" fmla="*/ 188 h 4045"/>
              <a:gd name="T90" fmla="*/ 43 w 1926"/>
              <a:gd name="T91" fmla="*/ 113 h 4045"/>
              <a:gd name="T92" fmla="*/ 92 w 1926"/>
              <a:gd name="T93" fmla="*/ 53 h 4045"/>
              <a:gd name="T94" fmla="*/ 154 w 1926"/>
              <a:gd name="T95" fmla="*/ 13 h 4045"/>
              <a:gd name="T96" fmla="*/ 224 w 1926"/>
              <a:gd name="T97" fmla="*/ 0 h 4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6" h="4045">
                <a:moveTo>
                  <a:pt x="963" y="3636"/>
                </a:moveTo>
                <a:lnTo>
                  <a:pt x="937" y="3639"/>
                </a:lnTo>
                <a:lnTo>
                  <a:pt x="914" y="3649"/>
                </a:lnTo>
                <a:lnTo>
                  <a:pt x="893" y="3665"/>
                </a:lnTo>
                <a:lnTo>
                  <a:pt x="876" y="3686"/>
                </a:lnTo>
                <a:lnTo>
                  <a:pt x="863" y="3712"/>
                </a:lnTo>
                <a:lnTo>
                  <a:pt x="854" y="3741"/>
                </a:lnTo>
                <a:lnTo>
                  <a:pt x="851" y="3772"/>
                </a:lnTo>
                <a:lnTo>
                  <a:pt x="854" y="3804"/>
                </a:lnTo>
                <a:lnTo>
                  <a:pt x="863" y="3832"/>
                </a:lnTo>
                <a:lnTo>
                  <a:pt x="876" y="3857"/>
                </a:lnTo>
                <a:lnTo>
                  <a:pt x="893" y="3878"/>
                </a:lnTo>
                <a:lnTo>
                  <a:pt x="914" y="3894"/>
                </a:lnTo>
                <a:lnTo>
                  <a:pt x="937" y="3905"/>
                </a:lnTo>
                <a:lnTo>
                  <a:pt x="963" y="3909"/>
                </a:lnTo>
                <a:lnTo>
                  <a:pt x="988" y="3905"/>
                </a:lnTo>
                <a:lnTo>
                  <a:pt x="1013" y="3894"/>
                </a:lnTo>
                <a:lnTo>
                  <a:pt x="1033" y="3878"/>
                </a:lnTo>
                <a:lnTo>
                  <a:pt x="1051" y="3857"/>
                </a:lnTo>
                <a:lnTo>
                  <a:pt x="1064" y="3832"/>
                </a:lnTo>
                <a:lnTo>
                  <a:pt x="1072" y="3804"/>
                </a:lnTo>
                <a:lnTo>
                  <a:pt x="1075" y="3772"/>
                </a:lnTo>
                <a:lnTo>
                  <a:pt x="1072" y="3741"/>
                </a:lnTo>
                <a:lnTo>
                  <a:pt x="1064" y="3712"/>
                </a:lnTo>
                <a:lnTo>
                  <a:pt x="1051" y="3686"/>
                </a:lnTo>
                <a:lnTo>
                  <a:pt x="1033" y="3665"/>
                </a:lnTo>
                <a:lnTo>
                  <a:pt x="1013" y="3649"/>
                </a:lnTo>
                <a:lnTo>
                  <a:pt x="988" y="3639"/>
                </a:lnTo>
                <a:lnTo>
                  <a:pt x="963" y="3636"/>
                </a:lnTo>
                <a:close/>
                <a:moveTo>
                  <a:pt x="156" y="434"/>
                </a:moveTo>
                <a:lnTo>
                  <a:pt x="156" y="3540"/>
                </a:lnTo>
                <a:lnTo>
                  <a:pt x="1770" y="3540"/>
                </a:lnTo>
                <a:lnTo>
                  <a:pt x="1770" y="434"/>
                </a:lnTo>
                <a:lnTo>
                  <a:pt x="156" y="434"/>
                </a:lnTo>
                <a:close/>
                <a:moveTo>
                  <a:pt x="727" y="197"/>
                </a:moveTo>
                <a:lnTo>
                  <a:pt x="716" y="200"/>
                </a:lnTo>
                <a:lnTo>
                  <a:pt x="707" y="207"/>
                </a:lnTo>
                <a:lnTo>
                  <a:pt x="701" y="217"/>
                </a:lnTo>
                <a:lnTo>
                  <a:pt x="699" y="230"/>
                </a:lnTo>
                <a:lnTo>
                  <a:pt x="701" y="243"/>
                </a:lnTo>
                <a:lnTo>
                  <a:pt x="707" y="254"/>
                </a:lnTo>
                <a:lnTo>
                  <a:pt x="716" y="260"/>
                </a:lnTo>
                <a:lnTo>
                  <a:pt x="727" y="262"/>
                </a:lnTo>
                <a:lnTo>
                  <a:pt x="1199" y="262"/>
                </a:lnTo>
                <a:lnTo>
                  <a:pt x="1210" y="260"/>
                </a:lnTo>
                <a:lnTo>
                  <a:pt x="1218" y="254"/>
                </a:lnTo>
                <a:lnTo>
                  <a:pt x="1224" y="243"/>
                </a:lnTo>
                <a:lnTo>
                  <a:pt x="1226" y="230"/>
                </a:lnTo>
                <a:lnTo>
                  <a:pt x="1224" y="217"/>
                </a:lnTo>
                <a:lnTo>
                  <a:pt x="1218" y="207"/>
                </a:lnTo>
                <a:lnTo>
                  <a:pt x="1210" y="200"/>
                </a:lnTo>
                <a:lnTo>
                  <a:pt x="1199" y="197"/>
                </a:lnTo>
                <a:lnTo>
                  <a:pt x="727" y="197"/>
                </a:lnTo>
                <a:close/>
                <a:moveTo>
                  <a:pt x="224" y="0"/>
                </a:moveTo>
                <a:lnTo>
                  <a:pt x="1702" y="0"/>
                </a:lnTo>
                <a:lnTo>
                  <a:pt x="1738" y="4"/>
                </a:lnTo>
                <a:lnTo>
                  <a:pt x="1773" y="13"/>
                </a:lnTo>
                <a:lnTo>
                  <a:pt x="1805" y="31"/>
                </a:lnTo>
                <a:lnTo>
                  <a:pt x="1834" y="53"/>
                </a:lnTo>
                <a:lnTo>
                  <a:pt x="1860" y="81"/>
                </a:lnTo>
                <a:lnTo>
                  <a:pt x="1882" y="113"/>
                </a:lnTo>
                <a:lnTo>
                  <a:pt x="1900" y="148"/>
                </a:lnTo>
                <a:lnTo>
                  <a:pt x="1915" y="188"/>
                </a:lnTo>
                <a:lnTo>
                  <a:pt x="1923" y="229"/>
                </a:lnTo>
                <a:lnTo>
                  <a:pt x="1926" y="273"/>
                </a:lnTo>
                <a:lnTo>
                  <a:pt x="1926" y="3772"/>
                </a:lnTo>
                <a:lnTo>
                  <a:pt x="1923" y="3816"/>
                </a:lnTo>
                <a:lnTo>
                  <a:pt x="1915" y="3857"/>
                </a:lnTo>
                <a:lnTo>
                  <a:pt x="1900" y="3897"/>
                </a:lnTo>
                <a:lnTo>
                  <a:pt x="1882" y="3932"/>
                </a:lnTo>
                <a:lnTo>
                  <a:pt x="1860" y="3964"/>
                </a:lnTo>
                <a:lnTo>
                  <a:pt x="1834" y="3992"/>
                </a:lnTo>
                <a:lnTo>
                  <a:pt x="1805" y="4014"/>
                </a:lnTo>
                <a:lnTo>
                  <a:pt x="1773" y="4032"/>
                </a:lnTo>
                <a:lnTo>
                  <a:pt x="1738" y="4041"/>
                </a:lnTo>
                <a:lnTo>
                  <a:pt x="1702" y="4045"/>
                </a:lnTo>
                <a:lnTo>
                  <a:pt x="224" y="4045"/>
                </a:lnTo>
                <a:lnTo>
                  <a:pt x="188" y="4041"/>
                </a:lnTo>
                <a:lnTo>
                  <a:pt x="154" y="4032"/>
                </a:lnTo>
                <a:lnTo>
                  <a:pt x="122" y="4014"/>
                </a:lnTo>
                <a:lnTo>
                  <a:pt x="92" y="3992"/>
                </a:lnTo>
                <a:lnTo>
                  <a:pt x="66" y="3964"/>
                </a:lnTo>
                <a:lnTo>
                  <a:pt x="43" y="3932"/>
                </a:lnTo>
                <a:lnTo>
                  <a:pt x="25" y="3897"/>
                </a:lnTo>
                <a:lnTo>
                  <a:pt x="12" y="3857"/>
                </a:lnTo>
                <a:lnTo>
                  <a:pt x="3" y="3816"/>
                </a:lnTo>
                <a:lnTo>
                  <a:pt x="0" y="3772"/>
                </a:lnTo>
                <a:lnTo>
                  <a:pt x="0" y="273"/>
                </a:lnTo>
                <a:lnTo>
                  <a:pt x="3" y="229"/>
                </a:lnTo>
                <a:lnTo>
                  <a:pt x="12" y="188"/>
                </a:lnTo>
                <a:lnTo>
                  <a:pt x="25" y="148"/>
                </a:lnTo>
                <a:lnTo>
                  <a:pt x="43" y="113"/>
                </a:lnTo>
                <a:lnTo>
                  <a:pt x="66" y="81"/>
                </a:lnTo>
                <a:lnTo>
                  <a:pt x="92" y="53"/>
                </a:lnTo>
                <a:lnTo>
                  <a:pt x="122" y="31"/>
                </a:lnTo>
                <a:lnTo>
                  <a:pt x="154" y="13"/>
                </a:lnTo>
                <a:lnTo>
                  <a:pt x="188" y="4"/>
                </a:lnTo>
                <a:lnTo>
                  <a:pt x="2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462778" y="3768685"/>
            <a:ext cx="170716" cy="149410"/>
          </a:xfrm>
          <a:custGeom>
            <a:avLst/>
            <a:gdLst>
              <a:gd name="connsiteX0" fmla="*/ 149021 w 448462"/>
              <a:gd name="connsiteY0" fmla="*/ 328125 h 392491"/>
              <a:gd name="connsiteX1" fmla="*/ 210588 w 448462"/>
              <a:gd name="connsiteY1" fmla="*/ 357224 h 392491"/>
              <a:gd name="connsiteX2" fmla="*/ 160375 w 448462"/>
              <a:gd name="connsiteY2" fmla="*/ 391211 h 392491"/>
              <a:gd name="connsiteX3" fmla="*/ 158502 w 448462"/>
              <a:gd name="connsiteY3" fmla="*/ 392025 h 392491"/>
              <a:gd name="connsiteX4" fmla="*/ 156629 w 448462"/>
              <a:gd name="connsiteY4" fmla="*/ 392491 h 392491"/>
              <a:gd name="connsiteX5" fmla="*/ 154757 w 448462"/>
              <a:gd name="connsiteY5" fmla="*/ 392375 h 392491"/>
              <a:gd name="connsiteX6" fmla="*/ 153001 w 448462"/>
              <a:gd name="connsiteY6" fmla="*/ 391676 h 392491"/>
              <a:gd name="connsiteX7" fmla="*/ 151362 w 448462"/>
              <a:gd name="connsiteY7" fmla="*/ 390396 h 392491"/>
              <a:gd name="connsiteX8" fmla="*/ 150075 w 448462"/>
              <a:gd name="connsiteY8" fmla="*/ 388883 h 392491"/>
              <a:gd name="connsiteX9" fmla="*/ 149255 w 448462"/>
              <a:gd name="connsiteY9" fmla="*/ 387137 h 392491"/>
              <a:gd name="connsiteX10" fmla="*/ 149021 w 448462"/>
              <a:gd name="connsiteY10" fmla="*/ 385158 h 392491"/>
              <a:gd name="connsiteX11" fmla="*/ 441235 w 448462"/>
              <a:gd name="connsiteY11" fmla="*/ 0 h 392491"/>
              <a:gd name="connsiteX12" fmla="*/ 442983 w 448462"/>
              <a:gd name="connsiteY12" fmla="*/ 233 h 392491"/>
              <a:gd name="connsiteX13" fmla="*/ 444615 w 448462"/>
              <a:gd name="connsiteY13" fmla="*/ 816 h 392491"/>
              <a:gd name="connsiteX14" fmla="*/ 446131 w 448462"/>
              <a:gd name="connsiteY14" fmla="*/ 1866 h 392491"/>
              <a:gd name="connsiteX15" fmla="*/ 447530 w 448462"/>
              <a:gd name="connsiteY15" fmla="*/ 3615 h 392491"/>
              <a:gd name="connsiteX16" fmla="*/ 448346 w 448462"/>
              <a:gd name="connsiteY16" fmla="*/ 5714 h 392491"/>
              <a:gd name="connsiteX17" fmla="*/ 448462 w 448462"/>
              <a:gd name="connsiteY17" fmla="*/ 7696 h 392491"/>
              <a:gd name="connsiteX18" fmla="*/ 447879 w 448462"/>
              <a:gd name="connsiteY18" fmla="*/ 9911 h 392491"/>
              <a:gd name="connsiteX19" fmla="*/ 307990 w 448462"/>
              <a:gd name="connsiteY19" fmla="*/ 362641 h 392491"/>
              <a:gd name="connsiteX20" fmla="*/ 306708 w 448462"/>
              <a:gd name="connsiteY20" fmla="*/ 364973 h 392491"/>
              <a:gd name="connsiteX21" fmla="*/ 305076 w 448462"/>
              <a:gd name="connsiteY21" fmla="*/ 366955 h 392491"/>
              <a:gd name="connsiteX22" fmla="*/ 303094 w 448462"/>
              <a:gd name="connsiteY22" fmla="*/ 368588 h 392491"/>
              <a:gd name="connsiteX23" fmla="*/ 300646 w 448462"/>
              <a:gd name="connsiteY23" fmla="*/ 369870 h 392491"/>
              <a:gd name="connsiteX24" fmla="*/ 298314 w 448462"/>
              <a:gd name="connsiteY24" fmla="*/ 370570 h 392491"/>
              <a:gd name="connsiteX25" fmla="*/ 295983 w 448462"/>
              <a:gd name="connsiteY25" fmla="*/ 370803 h 392491"/>
              <a:gd name="connsiteX26" fmla="*/ 293068 w 448462"/>
              <a:gd name="connsiteY26" fmla="*/ 370453 h 392491"/>
              <a:gd name="connsiteX27" fmla="*/ 290387 w 448462"/>
              <a:gd name="connsiteY27" fmla="*/ 369404 h 392491"/>
              <a:gd name="connsiteX28" fmla="*/ 148982 w 448462"/>
              <a:gd name="connsiteY28" fmla="*/ 302123 h 392491"/>
              <a:gd name="connsiteX29" fmla="*/ 347858 w 448462"/>
              <a:gd name="connsiteY29" fmla="*/ 102379 h 392491"/>
              <a:gd name="connsiteX30" fmla="*/ 120771 w 448462"/>
              <a:gd name="connsiteY30" fmla="*/ 288830 h 392491"/>
              <a:gd name="connsiteX31" fmla="*/ 7344 w 448462"/>
              <a:gd name="connsiteY31" fmla="*/ 234842 h 392491"/>
              <a:gd name="connsiteX32" fmla="*/ 4896 w 448462"/>
              <a:gd name="connsiteY32" fmla="*/ 233209 h 392491"/>
              <a:gd name="connsiteX33" fmla="*/ 2798 w 448462"/>
              <a:gd name="connsiteY33" fmla="*/ 231227 h 392491"/>
              <a:gd name="connsiteX34" fmla="*/ 1282 w 448462"/>
              <a:gd name="connsiteY34" fmla="*/ 228895 h 392491"/>
              <a:gd name="connsiteX35" fmla="*/ 349 w 448462"/>
              <a:gd name="connsiteY35" fmla="*/ 226213 h 392491"/>
              <a:gd name="connsiteX36" fmla="*/ 0 w 448462"/>
              <a:gd name="connsiteY36" fmla="*/ 223298 h 392491"/>
              <a:gd name="connsiteX37" fmla="*/ 233 w 448462"/>
              <a:gd name="connsiteY37" fmla="*/ 220499 h 392491"/>
              <a:gd name="connsiteX38" fmla="*/ 1165 w 448462"/>
              <a:gd name="connsiteY38" fmla="*/ 217701 h 392491"/>
              <a:gd name="connsiteX39" fmla="*/ 2681 w 448462"/>
              <a:gd name="connsiteY39" fmla="*/ 215252 h 392491"/>
              <a:gd name="connsiteX40" fmla="*/ 4779 w 448462"/>
              <a:gd name="connsiteY40" fmla="*/ 213270 h 392491"/>
              <a:gd name="connsiteX41" fmla="*/ 7227 w 448462"/>
              <a:gd name="connsiteY41" fmla="*/ 211754 h 392491"/>
              <a:gd name="connsiteX42" fmla="*/ 437971 w 448462"/>
              <a:gd name="connsiteY42" fmla="*/ 583 h 392491"/>
              <a:gd name="connsiteX43" fmla="*/ 439603 w 448462"/>
              <a:gd name="connsiteY43" fmla="*/ 117 h 39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48462" h="392491">
                <a:moveTo>
                  <a:pt x="149021" y="328125"/>
                </a:moveTo>
                <a:lnTo>
                  <a:pt x="210588" y="357224"/>
                </a:lnTo>
                <a:lnTo>
                  <a:pt x="160375" y="391211"/>
                </a:lnTo>
                <a:lnTo>
                  <a:pt x="158502" y="392025"/>
                </a:lnTo>
                <a:lnTo>
                  <a:pt x="156629" y="392491"/>
                </a:lnTo>
                <a:lnTo>
                  <a:pt x="154757" y="392375"/>
                </a:lnTo>
                <a:lnTo>
                  <a:pt x="153001" y="391676"/>
                </a:lnTo>
                <a:lnTo>
                  <a:pt x="151362" y="390396"/>
                </a:lnTo>
                <a:lnTo>
                  <a:pt x="150075" y="388883"/>
                </a:lnTo>
                <a:lnTo>
                  <a:pt x="149255" y="387137"/>
                </a:lnTo>
                <a:lnTo>
                  <a:pt x="149021" y="385158"/>
                </a:lnTo>
                <a:close/>
                <a:moveTo>
                  <a:pt x="441235" y="0"/>
                </a:moveTo>
                <a:lnTo>
                  <a:pt x="442983" y="233"/>
                </a:lnTo>
                <a:lnTo>
                  <a:pt x="444615" y="816"/>
                </a:lnTo>
                <a:lnTo>
                  <a:pt x="446131" y="1866"/>
                </a:lnTo>
                <a:lnTo>
                  <a:pt x="447530" y="3615"/>
                </a:lnTo>
                <a:lnTo>
                  <a:pt x="448346" y="5714"/>
                </a:lnTo>
                <a:lnTo>
                  <a:pt x="448462" y="7696"/>
                </a:lnTo>
                <a:lnTo>
                  <a:pt x="447879" y="9911"/>
                </a:lnTo>
                <a:lnTo>
                  <a:pt x="307990" y="362641"/>
                </a:lnTo>
                <a:lnTo>
                  <a:pt x="306708" y="364973"/>
                </a:lnTo>
                <a:lnTo>
                  <a:pt x="305076" y="366955"/>
                </a:lnTo>
                <a:lnTo>
                  <a:pt x="303094" y="368588"/>
                </a:lnTo>
                <a:lnTo>
                  <a:pt x="300646" y="369870"/>
                </a:lnTo>
                <a:lnTo>
                  <a:pt x="298314" y="370570"/>
                </a:lnTo>
                <a:lnTo>
                  <a:pt x="295983" y="370803"/>
                </a:lnTo>
                <a:lnTo>
                  <a:pt x="293068" y="370453"/>
                </a:lnTo>
                <a:lnTo>
                  <a:pt x="290387" y="369404"/>
                </a:lnTo>
                <a:lnTo>
                  <a:pt x="148982" y="302123"/>
                </a:lnTo>
                <a:lnTo>
                  <a:pt x="347858" y="102379"/>
                </a:lnTo>
                <a:lnTo>
                  <a:pt x="120771" y="288830"/>
                </a:lnTo>
                <a:lnTo>
                  <a:pt x="7344" y="234842"/>
                </a:lnTo>
                <a:lnTo>
                  <a:pt x="4896" y="233209"/>
                </a:lnTo>
                <a:lnTo>
                  <a:pt x="2798" y="231227"/>
                </a:lnTo>
                <a:lnTo>
                  <a:pt x="1282" y="228895"/>
                </a:lnTo>
                <a:lnTo>
                  <a:pt x="349" y="226213"/>
                </a:lnTo>
                <a:lnTo>
                  <a:pt x="0" y="223298"/>
                </a:lnTo>
                <a:lnTo>
                  <a:pt x="233" y="220499"/>
                </a:lnTo>
                <a:lnTo>
                  <a:pt x="1165" y="217701"/>
                </a:lnTo>
                <a:lnTo>
                  <a:pt x="2681" y="215252"/>
                </a:lnTo>
                <a:lnTo>
                  <a:pt x="4779" y="213270"/>
                </a:lnTo>
                <a:lnTo>
                  <a:pt x="7227" y="211754"/>
                </a:lnTo>
                <a:lnTo>
                  <a:pt x="437971" y="583"/>
                </a:lnTo>
                <a:lnTo>
                  <a:pt x="439603" y="11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noAutofit/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5" name="Freeform 6"/>
          <p:cNvSpPr/>
          <p:nvPr/>
        </p:nvSpPr>
        <p:spPr>
          <a:xfrm rot="10800000" flipH="1" flipV="1">
            <a:off x="461886" y="3136838"/>
            <a:ext cx="172500" cy="152938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7" name="그룹 26"/>
          <p:cNvGrpSpPr/>
          <p:nvPr/>
        </p:nvGrpSpPr>
        <p:grpSpPr>
          <a:xfrm>
            <a:off x="393568" y="656552"/>
            <a:ext cx="323769" cy="323769"/>
            <a:chOff x="1593332" y="2172798"/>
            <a:chExt cx="1083168" cy="1083168"/>
          </a:xfrm>
        </p:grpSpPr>
        <p:sp>
          <p:nvSpPr>
            <p:cNvPr id="28" name="타원 27"/>
            <p:cNvSpPr/>
            <p:nvPr/>
          </p:nvSpPr>
          <p:spPr>
            <a:xfrm>
              <a:off x="1593332" y="2172798"/>
              <a:ext cx="1083168" cy="108316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b="1">
                <a:solidFill>
                  <a:prstClr val="white"/>
                </a:solidFill>
              </a:endParaRPr>
            </a:p>
          </p:txBody>
        </p:sp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41655" y="2321121"/>
              <a:ext cx="786521" cy="786521"/>
            </a:xfrm>
            <a:prstGeom prst="rect">
              <a:avLst/>
            </a:prstGeom>
          </p:spPr>
        </p:pic>
      </p:grpSp>
      <p:sp>
        <p:nvSpPr>
          <p:cNvPr id="32" name="모서리가 둥근 직사각형 31"/>
          <p:cNvSpPr/>
          <p:nvPr/>
        </p:nvSpPr>
        <p:spPr>
          <a:xfrm>
            <a:off x="350136" y="1719059"/>
            <a:ext cx="396000" cy="396000"/>
          </a:xfrm>
          <a:prstGeom prst="roundRect">
            <a:avLst>
              <a:gd name="adj" fmla="val 16667"/>
            </a:avLst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prstClr val="white"/>
              </a:solidFill>
            </a:endParaRPr>
          </a:p>
        </p:txBody>
      </p:sp>
      <p:grpSp>
        <p:nvGrpSpPr>
          <p:cNvPr id="20" name="Group 12"/>
          <p:cNvGrpSpPr>
            <a:grpSpLocks noChangeAspect="1"/>
          </p:cNvGrpSpPr>
          <p:nvPr/>
        </p:nvGrpSpPr>
        <p:grpSpPr>
          <a:xfrm>
            <a:off x="433464" y="1832474"/>
            <a:ext cx="229344" cy="182438"/>
            <a:chOff x="6124" y="305"/>
            <a:chExt cx="841" cy="669"/>
          </a:xfrm>
          <a:solidFill>
            <a:schemeClr val="bg1"/>
          </a:solidFill>
        </p:grpSpPr>
        <p:sp>
          <p:nvSpPr>
            <p:cNvPr id="21" name="Freeform 13"/>
            <p:cNvSpPr/>
            <p:nvPr/>
          </p:nvSpPr>
          <p:spPr>
            <a:xfrm>
              <a:off x="6244" y="440"/>
              <a:ext cx="601" cy="534"/>
            </a:xfrm>
            <a:custGeom>
              <a:avLst/>
              <a:gdLst>
                <a:gd name="T0" fmla="*/ 902 w 1802"/>
                <a:gd name="T1" fmla="*/ 0 h 1602"/>
                <a:gd name="T2" fmla="*/ 2 w 1802"/>
                <a:gd name="T3" fmla="*/ 742 h 1602"/>
                <a:gd name="T4" fmla="*/ 2 w 1802"/>
                <a:gd name="T5" fmla="*/ 743 h 1602"/>
                <a:gd name="T6" fmla="*/ 2 w 1802"/>
                <a:gd name="T7" fmla="*/ 746 h 1602"/>
                <a:gd name="T8" fmla="*/ 0 w 1802"/>
                <a:gd name="T9" fmla="*/ 749 h 1602"/>
                <a:gd name="T10" fmla="*/ 0 w 1802"/>
                <a:gd name="T11" fmla="*/ 751 h 1602"/>
                <a:gd name="T12" fmla="*/ 0 w 1802"/>
                <a:gd name="T13" fmla="*/ 1501 h 1602"/>
                <a:gd name="T14" fmla="*/ 2 w 1802"/>
                <a:gd name="T15" fmla="*/ 1521 h 1602"/>
                <a:gd name="T16" fmla="*/ 16 w 1802"/>
                <a:gd name="T17" fmla="*/ 1557 h 1602"/>
                <a:gd name="T18" fmla="*/ 30 w 1802"/>
                <a:gd name="T19" fmla="*/ 1572 h 1602"/>
                <a:gd name="T20" fmla="*/ 45 w 1802"/>
                <a:gd name="T21" fmla="*/ 1586 h 1602"/>
                <a:gd name="T22" fmla="*/ 81 w 1802"/>
                <a:gd name="T23" fmla="*/ 1601 h 1602"/>
                <a:gd name="T24" fmla="*/ 100 w 1802"/>
                <a:gd name="T25" fmla="*/ 1602 h 1602"/>
                <a:gd name="T26" fmla="*/ 702 w 1802"/>
                <a:gd name="T27" fmla="*/ 1602 h 1602"/>
                <a:gd name="T28" fmla="*/ 702 w 1802"/>
                <a:gd name="T29" fmla="*/ 1001 h 1602"/>
                <a:gd name="T30" fmla="*/ 1102 w 1802"/>
                <a:gd name="T31" fmla="*/ 1001 h 1602"/>
                <a:gd name="T32" fmla="*/ 1102 w 1802"/>
                <a:gd name="T33" fmla="*/ 1602 h 1602"/>
                <a:gd name="T34" fmla="*/ 1703 w 1802"/>
                <a:gd name="T35" fmla="*/ 1602 h 1602"/>
                <a:gd name="T36" fmla="*/ 1723 w 1802"/>
                <a:gd name="T37" fmla="*/ 1601 h 1602"/>
                <a:gd name="T38" fmla="*/ 1758 w 1802"/>
                <a:gd name="T39" fmla="*/ 1586 h 1602"/>
                <a:gd name="T40" fmla="*/ 1773 w 1802"/>
                <a:gd name="T41" fmla="*/ 1572 h 1602"/>
                <a:gd name="T42" fmla="*/ 1786 w 1802"/>
                <a:gd name="T43" fmla="*/ 1557 h 1602"/>
                <a:gd name="T44" fmla="*/ 1802 w 1802"/>
                <a:gd name="T45" fmla="*/ 1521 h 1602"/>
                <a:gd name="T46" fmla="*/ 1802 w 1802"/>
                <a:gd name="T47" fmla="*/ 1501 h 1602"/>
                <a:gd name="T48" fmla="*/ 1802 w 1802"/>
                <a:gd name="T49" fmla="*/ 751 h 1602"/>
                <a:gd name="T50" fmla="*/ 1802 w 1802"/>
                <a:gd name="T51" fmla="*/ 745 h 1602"/>
                <a:gd name="T52" fmla="*/ 1801 w 1802"/>
                <a:gd name="T53" fmla="*/ 742 h 1602"/>
                <a:gd name="T54" fmla="*/ 902 w 1802"/>
                <a:gd name="T55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802" h="1602">
                  <a:moveTo>
                    <a:pt x="902" y="0"/>
                  </a:moveTo>
                  <a:lnTo>
                    <a:pt x="2" y="742"/>
                  </a:lnTo>
                  <a:lnTo>
                    <a:pt x="2" y="743"/>
                  </a:lnTo>
                  <a:lnTo>
                    <a:pt x="2" y="746"/>
                  </a:lnTo>
                  <a:lnTo>
                    <a:pt x="0" y="749"/>
                  </a:lnTo>
                  <a:lnTo>
                    <a:pt x="0" y="751"/>
                  </a:lnTo>
                  <a:lnTo>
                    <a:pt x="0" y="1501"/>
                  </a:lnTo>
                  <a:lnTo>
                    <a:pt x="2" y="1521"/>
                  </a:lnTo>
                  <a:lnTo>
                    <a:pt x="16" y="1557"/>
                  </a:lnTo>
                  <a:lnTo>
                    <a:pt x="30" y="1572"/>
                  </a:lnTo>
                  <a:lnTo>
                    <a:pt x="45" y="1586"/>
                  </a:lnTo>
                  <a:lnTo>
                    <a:pt x="81" y="1601"/>
                  </a:lnTo>
                  <a:lnTo>
                    <a:pt x="100" y="1602"/>
                  </a:lnTo>
                  <a:lnTo>
                    <a:pt x="702" y="1602"/>
                  </a:lnTo>
                  <a:lnTo>
                    <a:pt x="702" y="1001"/>
                  </a:lnTo>
                  <a:lnTo>
                    <a:pt x="1102" y="1001"/>
                  </a:lnTo>
                  <a:lnTo>
                    <a:pt x="1102" y="1602"/>
                  </a:lnTo>
                  <a:lnTo>
                    <a:pt x="1703" y="1602"/>
                  </a:lnTo>
                  <a:lnTo>
                    <a:pt x="1723" y="1601"/>
                  </a:lnTo>
                  <a:lnTo>
                    <a:pt x="1758" y="1586"/>
                  </a:lnTo>
                  <a:lnTo>
                    <a:pt x="1773" y="1572"/>
                  </a:lnTo>
                  <a:lnTo>
                    <a:pt x="1786" y="1557"/>
                  </a:lnTo>
                  <a:lnTo>
                    <a:pt x="1802" y="1521"/>
                  </a:lnTo>
                  <a:lnTo>
                    <a:pt x="1802" y="1501"/>
                  </a:lnTo>
                  <a:lnTo>
                    <a:pt x="1802" y="751"/>
                  </a:lnTo>
                  <a:lnTo>
                    <a:pt x="1802" y="745"/>
                  </a:lnTo>
                  <a:lnTo>
                    <a:pt x="1801" y="742"/>
                  </a:lnTo>
                  <a:lnTo>
                    <a:pt x="9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4"/>
            <p:cNvSpPr/>
            <p:nvPr/>
          </p:nvSpPr>
          <p:spPr>
            <a:xfrm>
              <a:off x="6124" y="305"/>
              <a:ext cx="841" cy="394"/>
            </a:xfrm>
            <a:custGeom>
              <a:avLst/>
              <a:gdLst>
                <a:gd name="T0" fmla="*/ 2505 w 2522"/>
                <a:gd name="T1" fmla="*/ 978 h 1181"/>
                <a:gd name="T2" fmla="*/ 2162 w 2522"/>
                <a:gd name="T3" fmla="*/ 694 h 1181"/>
                <a:gd name="T4" fmla="*/ 2162 w 2522"/>
                <a:gd name="T5" fmla="*/ 54 h 1181"/>
                <a:gd name="T6" fmla="*/ 2162 w 2522"/>
                <a:gd name="T7" fmla="*/ 44 h 1181"/>
                <a:gd name="T8" fmla="*/ 2155 w 2522"/>
                <a:gd name="T9" fmla="*/ 26 h 1181"/>
                <a:gd name="T10" fmla="*/ 2149 w 2522"/>
                <a:gd name="T11" fmla="*/ 18 h 1181"/>
                <a:gd name="T12" fmla="*/ 2141 w 2522"/>
                <a:gd name="T13" fmla="*/ 13 h 1181"/>
                <a:gd name="T14" fmla="*/ 2123 w 2522"/>
                <a:gd name="T15" fmla="*/ 5 h 1181"/>
                <a:gd name="T16" fmla="*/ 2113 w 2522"/>
                <a:gd name="T17" fmla="*/ 5 h 1181"/>
                <a:gd name="T18" fmla="*/ 1812 w 2522"/>
                <a:gd name="T19" fmla="*/ 5 h 1181"/>
                <a:gd name="T20" fmla="*/ 1802 w 2522"/>
                <a:gd name="T21" fmla="*/ 5 h 1181"/>
                <a:gd name="T22" fmla="*/ 1783 w 2522"/>
                <a:gd name="T23" fmla="*/ 13 h 1181"/>
                <a:gd name="T24" fmla="*/ 1776 w 2522"/>
                <a:gd name="T25" fmla="*/ 18 h 1181"/>
                <a:gd name="T26" fmla="*/ 1770 w 2522"/>
                <a:gd name="T27" fmla="*/ 26 h 1181"/>
                <a:gd name="T28" fmla="*/ 1763 w 2522"/>
                <a:gd name="T29" fmla="*/ 44 h 1181"/>
                <a:gd name="T30" fmla="*/ 1762 w 2522"/>
                <a:gd name="T31" fmla="*/ 54 h 1181"/>
                <a:gd name="T32" fmla="*/ 1762 w 2522"/>
                <a:gd name="T33" fmla="*/ 360 h 1181"/>
                <a:gd name="T34" fmla="*/ 1380 w 2522"/>
                <a:gd name="T35" fmla="*/ 41 h 1181"/>
                <a:gd name="T36" fmla="*/ 1354 w 2522"/>
                <a:gd name="T37" fmla="*/ 23 h 1181"/>
                <a:gd name="T38" fmla="*/ 1295 w 2522"/>
                <a:gd name="T39" fmla="*/ 1 h 1181"/>
                <a:gd name="T40" fmla="*/ 1262 w 2522"/>
                <a:gd name="T41" fmla="*/ 0 h 1181"/>
                <a:gd name="T42" fmla="*/ 1227 w 2522"/>
                <a:gd name="T43" fmla="*/ 1 h 1181"/>
                <a:gd name="T44" fmla="*/ 1168 w 2522"/>
                <a:gd name="T45" fmla="*/ 23 h 1181"/>
                <a:gd name="T46" fmla="*/ 1142 w 2522"/>
                <a:gd name="T47" fmla="*/ 41 h 1181"/>
                <a:gd name="T48" fmla="*/ 17 w 2522"/>
                <a:gd name="T49" fmla="*/ 978 h 1181"/>
                <a:gd name="T50" fmla="*/ 10 w 2522"/>
                <a:gd name="T51" fmla="*/ 985 h 1181"/>
                <a:gd name="T52" fmla="*/ 1 w 2522"/>
                <a:gd name="T53" fmla="*/ 1001 h 1181"/>
                <a:gd name="T54" fmla="*/ 0 w 2522"/>
                <a:gd name="T55" fmla="*/ 1012 h 1181"/>
                <a:gd name="T56" fmla="*/ 0 w 2522"/>
                <a:gd name="T57" fmla="*/ 1023 h 1181"/>
                <a:gd name="T58" fmla="*/ 6 w 2522"/>
                <a:gd name="T59" fmla="*/ 1040 h 1181"/>
                <a:gd name="T60" fmla="*/ 12 w 2522"/>
                <a:gd name="T61" fmla="*/ 1048 h 1181"/>
                <a:gd name="T62" fmla="*/ 108 w 2522"/>
                <a:gd name="T63" fmla="*/ 1164 h 1181"/>
                <a:gd name="T64" fmla="*/ 122 w 2522"/>
                <a:gd name="T65" fmla="*/ 1177 h 1181"/>
                <a:gd name="T66" fmla="*/ 141 w 2522"/>
                <a:gd name="T67" fmla="*/ 1181 h 1181"/>
                <a:gd name="T68" fmla="*/ 160 w 2522"/>
                <a:gd name="T69" fmla="*/ 1181 h 1181"/>
                <a:gd name="T70" fmla="*/ 179 w 2522"/>
                <a:gd name="T71" fmla="*/ 1171 h 1181"/>
                <a:gd name="T72" fmla="*/ 1262 w 2522"/>
                <a:gd name="T73" fmla="*/ 268 h 1181"/>
                <a:gd name="T74" fmla="*/ 2344 w 2522"/>
                <a:gd name="T75" fmla="*/ 1171 h 1181"/>
                <a:gd name="T76" fmla="*/ 2358 w 2522"/>
                <a:gd name="T77" fmla="*/ 1180 h 1181"/>
                <a:gd name="T78" fmla="*/ 2377 w 2522"/>
                <a:gd name="T79" fmla="*/ 1181 h 1181"/>
                <a:gd name="T80" fmla="*/ 2383 w 2522"/>
                <a:gd name="T81" fmla="*/ 1181 h 1181"/>
                <a:gd name="T82" fmla="*/ 2401 w 2522"/>
                <a:gd name="T83" fmla="*/ 1177 h 1181"/>
                <a:gd name="T84" fmla="*/ 2414 w 2522"/>
                <a:gd name="T85" fmla="*/ 1164 h 1181"/>
                <a:gd name="T86" fmla="*/ 2512 w 2522"/>
                <a:gd name="T87" fmla="*/ 1048 h 1181"/>
                <a:gd name="T88" fmla="*/ 2518 w 2522"/>
                <a:gd name="T89" fmla="*/ 1040 h 1181"/>
                <a:gd name="T90" fmla="*/ 2522 w 2522"/>
                <a:gd name="T91" fmla="*/ 1023 h 1181"/>
                <a:gd name="T92" fmla="*/ 2522 w 2522"/>
                <a:gd name="T93" fmla="*/ 1012 h 1181"/>
                <a:gd name="T94" fmla="*/ 2521 w 2522"/>
                <a:gd name="T95" fmla="*/ 1001 h 1181"/>
                <a:gd name="T96" fmla="*/ 2512 w 2522"/>
                <a:gd name="T97" fmla="*/ 985 h 1181"/>
                <a:gd name="T98" fmla="*/ 2505 w 2522"/>
                <a:gd name="T99" fmla="*/ 978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2" h="1181">
                  <a:moveTo>
                    <a:pt x="2505" y="978"/>
                  </a:moveTo>
                  <a:lnTo>
                    <a:pt x="2162" y="694"/>
                  </a:lnTo>
                  <a:lnTo>
                    <a:pt x="2162" y="54"/>
                  </a:lnTo>
                  <a:lnTo>
                    <a:pt x="2162" y="44"/>
                  </a:lnTo>
                  <a:lnTo>
                    <a:pt x="2155" y="26"/>
                  </a:lnTo>
                  <a:lnTo>
                    <a:pt x="2149" y="18"/>
                  </a:lnTo>
                  <a:lnTo>
                    <a:pt x="2141" y="13"/>
                  </a:lnTo>
                  <a:lnTo>
                    <a:pt x="2123" y="5"/>
                  </a:lnTo>
                  <a:lnTo>
                    <a:pt x="2113" y="5"/>
                  </a:lnTo>
                  <a:lnTo>
                    <a:pt x="1812" y="5"/>
                  </a:lnTo>
                  <a:lnTo>
                    <a:pt x="1802" y="5"/>
                  </a:lnTo>
                  <a:lnTo>
                    <a:pt x="1783" y="13"/>
                  </a:lnTo>
                  <a:lnTo>
                    <a:pt x="1776" y="18"/>
                  </a:lnTo>
                  <a:lnTo>
                    <a:pt x="1770" y="26"/>
                  </a:lnTo>
                  <a:lnTo>
                    <a:pt x="1763" y="44"/>
                  </a:lnTo>
                  <a:lnTo>
                    <a:pt x="1762" y="54"/>
                  </a:lnTo>
                  <a:lnTo>
                    <a:pt x="1762" y="360"/>
                  </a:lnTo>
                  <a:lnTo>
                    <a:pt x="1380" y="41"/>
                  </a:lnTo>
                  <a:lnTo>
                    <a:pt x="1354" y="23"/>
                  </a:lnTo>
                  <a:lnTo>
                    <a:pt x="1295" y="1"/>
                  </a:lnTo>
                  <a:lnTo>
                    <a:pt x="1262" y="0"/>
                  </a:lnTo>
                  <a:lnTo>
                    <a:pt x="1227" y="1"/>
                  </a:lnTo>
                  <a:lnTo>
                    <a:pt x="1168" y="23"/>
                  </a:lnTo>
                  <a:lnTo>
                    <a:pt x="1142" y="41"/>
                  </a:lnTo>
                  <a:lnTo>
                    <a:pt x="17" y="978"/>
                  </a:lnTo>
                  <a:lnTo>
                    <a:pt x="10" y="985"/>
                  </a:lnTo>
                  <a:lnTo>
                    <a:pt x="1" y="1001"/>
                  </a:lnTo>
                  <a:lnTo>
                    <a:pt x="0" y="1012"/>
                  </a:lnTo>
                  <a:lnTo>
                    <a:pt x="0" y="1023"/>
                  </a:lnTo>
                  <a:lnTo>
                    <a:pt x="6" y="1040"/>
                  </a:lnTo>
                  <a:lnTo>
                    <a:pt x="12" y="1048"/>
                  </a:lnTo>
                  <a:lnTo>
                    <a:pt x="108" y="1164"/>
                  </a:lnTo>
                  <a:lnTo>
                    <a:pt x="122" y="1177"/>
                  </a:lnTo>
                  <a:lnTo>
                    <a:pt x="141" y="1181"/>
                  </a:lnTo>
                  <a:lnTo>
                    <a:pt x="160" y="1181"/>
                  </a:lnTo>
                  <a:lnTo>
                    <a:pt x="179" y="1171"/>
                  </a:lnTo>
                  <a:lnTo>
                    <a:pt x="1262" y="268"/>
                  </a:lnTo>
                  <a:lnTo>
                    <a:pt x="2344" y="1171"/>
                  </a:lnTo>
                  <a:lnTo>
                    <a:pt x="2358" y="1180"/>
                  </a:lnTo>
                  <a:lnTo>
                    <a:pt x="2377" y="1181"/>
                  </a:lnTo>
                  <a:lnTo>
                    <a:pt x="2383" y="1181"/>
                  </a:lnTo>
                  <a:lnTo>
                    <a:pt x="2401" y="1177"/>
                  </a:lnTo>
                  <a:lnTo>
                    <a:pt x="2414" y="1164"/>
                  </a:lnTo>
                  <a:lnTo>
                    <a:pt x="2512" y="1048"/>
                  </a:lnTo>
                  <a:lnTo>
                    <a:pt x="2518" y="1040"/>
                  </a:lnTo>
                  <a:lnTo>
                    <a:pt x="2522" y="1023"/>
                  </a:lnTo>
                  <a:lnTo>
                    <a:pt x="2522" y="1012"/>
                  </a:lnTo>
                  <a:lnTo>
                    <a:pt x="2521" y="1001"/>
                  </a:lnTo>
                  <a:lnTo>
                    <a:pt x="2512" y="985"/>
                  </a:lnTo>
                  <a:lnTo>
                    <a:pt x="2505" y="9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</a:bodyPr>
            <a:lstStyle/>
            <a:p>
              <a:pPr lvl="0">
                <a:defRPr/>
              </a:pPr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578088" y="2370814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1000">
                <a:solidFill>
                  <a:prstClr val="white"/>
                </a:solidFill>
              </a:rPr>
              <a:t>18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420813" y="537998"/>
            <a:ext cx="6096000" cy="907896"/>
          </a:xfrm>
          <a:prstGeom prst="rect">
            <a:avLst/>
          </a:prstGeom>
        </p:spPr>
        <p:txBody>
          <a:bodyPr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ko-KR" altLang="en-US" sz="2600" b="1" i="1" kern="0">
                <a:solidFill>
                  <a:prstClr val="black">
                    <a:lumMod val="65000"/>
                    <a:lumOff val="35000"/>
                  </a:prstClr>
                </a:solidFill>
              </a:rPr>
              <a:t>참고</a:t>
            </a:r>
          </a:p>
          <a:p>
            <a:pPr latinLnBrk="0">
              <a:lnSpc>
                <a:spcPct val="150000"/>
              </a:lnSpc>
              <a:defRPr/>
            </a:pPr>
            <a:endParaRPr lang="ko-KR" altLang="en-US" sz="1000" b="1" kern="0">
              <a:solidFill>
                <a:schemeClr val="accent6"/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514699" y="1646917"/>
            <a:ext cx="9864501" cy="4279543"/>
          </a:xfrm>
          <a:prstGeom prst="roundRect">
            <a:avLst>
              <a:gd name="adj" fmla="val 342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6000" anchor="ctr"/>
          <a:lstStyle/>
          <a:p>
            <a:pPr lvl="0">
              <a:defRPr/>
            </a:pPr>
            <a:endParaRPr lang="en-US" altLang="ko-KR" sz="1050">
              <a:solidFill>
                <a:srgbClr val="264259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674487" y="1837813"/>
            <a:ext cx="9783451" cy="1170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600" b="1">
                <a:solidFill>
                  <a:srgbClr val="00D65E"/>
                </a:solidFill>
              </a:rPr>
              <a:t>참고 사이트</a:t>
            </a:r>
          </a:p>
          <a:p>
            <a:pPr>
              <a:lnSpc>
                <a:spcPct val="150000"/>
              </a:lnSpc>
              <a:defRPr/>
            </a:pPr>
            <a:endParaRPr lang="ko-KR" altLang="en-US" sz="1600" b="1">
              <a:solidFill>
                <a:srgbClr val="00D65E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0" i="0" u="none" strike="noStrike"/>
              <a:t>1. https://web.yonsei.ac.kr/yusong/lecture/materials/Materials.Learning.Style.Analysis.pdf</a:t>
            </a:r>
          </a:p>
        </p:txBody>
      </p:sp>
      <p:sp>
        <p:nvSpPr>
          <p:cNvPr id="51" name="타원 50"/>
          <p:cNvSpPr/>
          <p:nvPr/>
        </p:nvSpPr>
        <p:spPr>
          <a:xfrm>
            <a:off x="555404" y="4304681"/>
            <a:ext cx="177525" cy="1775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/>
          <a:lstStyle/>
          <a:p>
            <a:pPr algn="ctr">
              <a:defRPr/>
            </a:pPr>
            <a:r>
              <a:rPr lang="en-US" altLang="ko-KR" sz="600">
                <a:solidFill>
                  <a:prstClr val="white"/>
                </a:solidFill>
              </a:rPr>
              <a:t>off</a:t>
            </a:r>
            <a:endParaRPr lang="ko-KR" altLang="en-US" sz="600">
              <a:solidFill>
                <a:prstClr val="white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7C6ABE5-4594-4D76-9C49-FA248B238445}"/>
              </a:ext>
            </a:extLst>
          </p:cNvPr>
          <p:cNvSpPr/>
          <p:nvPr/>
        </p:nvSpPr>
        <p:spPr>
          <a:xfrm>
            <a:off x="236536" y="1030641"/>
            <a:ext cx="630239" cy="186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600" dirty="0">
                <a:solidFill>
                  <a:prstClr val="white"/>
                </a:solidFill>
              </a:rPr>
              <a:t>어시스턴트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19935" y="461016"/>
            <a:ext cx="423684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2800" b="1">
                <a:solidFill>
                  <a:prstClr val="black">
                    <a:lumMod val="75000"/>
                    <a:lumOff val="25000"/>
                  </a:prstClr>
                </a:solidFill>
              </a:rPr>
              <a:t>다음주 토의내용</a:t>
            </a:r>
          </a:p>
        </p:txBody>
      </p:sp>
      <p:sp>
        <p:nvSpPr>
          <p:cNvPr id="8" name="타원 7"/>
          <p:cNvSpPr/>
          <p:nvPr/>
        </p:nvSpPr>
        <p:spPr>
          <a:xfrm>
            <a:off x="535990" y="810227"/>
            <a:ext cx="5853235" cy="5536889"/>
          </a:xfrm>
          <a:prstGeom prst="ellipse">
            <a:avLst/>
          </a:prstGeom>
          <a:solidFill>
            <a:srgbClr val="2642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1" i="0" u="none" strike="noStrike"/>
              <a:t>1. </a:t>
            </a:r>
            <a:r>
              <a:rPr sz="1300" b="1" i="0" u="none" strike="noStrike"/>
              <a:t>한 사람 당 하나의 계정을 가질 수 있</a:t>
            </a:r>
            <a:r>
              <a:rPr lang="ko-KR" altLang="en-US" sz="1300" b="1" i="0" u="none" strike="noStrike"/>
              <a:t>음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b="1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1" i="0" u="none" strike="noStrike"/>
              <a:t>2. </a:t>
            </a:r>
            <a:r>
              <a:rPr sz="1300" b="1" i="0" u="none" strike="noStrike"/>
              <a:t>하나의 계정은 하나의 채팅방만 접속가능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b="1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1" i="0" u="none" strike="noStrike"/>
              <a:t>3. </a:t>
            </a:r>
            <a:r>
              <a:rPr sz="1300" b="1" i="0" u="none" strike="noStrike"/>
              <a:t>채팅방에서 사용된 사진</a:t>
            </a:r>
            <a:r>
              <a:rPr lang="en-US" altLang="ko-KR" sz="1300" b="1" i="0" u="none" strike="noStrike"/>
              <a:t>,</a:t>
            </a:r>
            <a:r>
              <a:rPr sz="1300" b="1" i="0" u="none" strike="noStrike"/>
              <a:t>동영상 저장</a:t>
            </a:r>
            <a:r>
              <a:rPr lang="ko-KR" altLang="en-US" sz="1300" b="1" i="0" u="none" strike="noStrike"/>
              <a:t> 가능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b="1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1" i="0" u="none" strike="noStrike"/>
              <a:t>4. </a:t>
            </a:r>
            <a:r>
              <a:rPr sz="1300" b="1" i="0" u="none" strike="noStrike"/>
              <a:t>어플리케이션에서 금액</a:t>
            </a:r>
            <a:r>
              <a:rPr lang="ko-KR" altLang="en-US" sz="1300" b="1" i="0" u="none" strike="noStrike"/>
              <a:t> 충전</a:t>
            </a:r>
            <a:r>
              <a:rPr lang="en-US" altLang="ko-KR" sz="1300" b="1" i="0" u="none" strike="noStrike"/>
              <a:t>,</a:t>
            </a:r>
            <a:r>
              <a:rPr lang="ko-KR" altLang="en-US" sz="1300" b="1" i="0" u="none" strike="noStrike"/>
              <a:t> 이체 가능</a:t>
            </a:r>
            <a:r>
              <a:rPr sz="1300" b="1" i="0" u="none" strike="noStrike"/>
              <a:t>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300" b="1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00" b="1" i="0" u="none" strike="noStrike"/>
              <a:t>5. </a:t>
            </a:r>
            <a:r>
              <a:rPr sz="1300" b="1" i="0" u="none" strike="noStrike"/>
              <a:t>채팅방에서 미션을 수행</a:t>
            </a:r>
            <a:r>
              <a:rPr lang="en-US" altLang="ko-KR" sz="1300" b="1" i="0" u="none" strike="noStrike"/>
              <a:t>,</a:t>
            </a:r>
            <a:r>
              <a:rPr lang="ko-KR" altLang="en-US" sz="1300" b="1" i="0" u="none" strike="noStrike"/>
              <a:t> 성공시 보상 획득</a:t>
            </a:r>
          </a:p>
        </p:txBody>
      </p:sp>
      <p:sp>
        <p:nvSpPr>
          <p:cNvPr id="7" name="타원 6"/>
          <p:cNvSpPr/>
          <p:nvPr/>
        </p:nvSpPr>
        <p:spPr>
          <a:xfrm>
            <a:off x="5267188" y="3429000"/>
            <a:ext cx="3064459" cy="3064459"/>
          </a:xfrm>
          <a:prstGeom prst="ellipse">
            <a:avLst/>
          </a:prstGeom>
          <a:solidFill>
            <a:srgbClr val="00D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00" b="0" i="0" u="none" strike="noStrike"/>
              <a:t> 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0" u="none" strike="noStrike">
                <a:solidFill>
                  <a:srgbClr val="000000"/>
                </a:solidFill>
              </a:rPr>
              <a:t>a</a:t>
            </a:r>
            <a:r>
              <a:rPr sz="1200" b="1" i="0" u="none" strike="noStrike">
                <a:solidFill>
                  <a:srgbClr val="000000"/>
                </a:solidFill>
              </a:rPr>
              <a:t>가 </a:t>
            </a:r>
            <a:r>
              <a:rPr lang="EN-US" sz="1200" b="1" i="0" u="none" strike="noStrike">
                <a:solidFill>
                  <a:srgbClr val="000000"/>
                </a:solidFill>
              </a:rPr>
              <a:t>b</a:t>
            </a:r>
            <a:r>
              <a:rPr sz="1200" b="1" i="0" u="none" strike="noStrike">
                <a:solidFill>
                  <a:srgbClr val="000000"/>
                </a:solidFill>
              </a:rPr>
              <a:t>에게 </a:t>
            </a:r>
            <a:r>
              <a:rPr lang="ko-KR" altLang="en-US" sz="1200" b="1" i="0" u="none" strike="noStrike">
                <a:solidFill>
                  <a:srgbClr val="000000"/>
                </a:solidFill>
              </a:rPr>
              <a:t>목표 부여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200" b="1" i="0" u="none" strike="noStrike">
              <a:solidFill>
                <a:srgbClr val="000000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i="0" u="none" strike="noStrike">
                <a:solidFill>
                  <a:srgbClr val="000000"/>
                </a:solidFill>
              </a:rPr>
              <a:t>a</a:t>
            </a:r>
            <a:r>
              <a:rPr sz="1200" b="1" i="0" u="none" strike="noStrike">
                <a:solidFill>
                  <a:srgbClr val="000000"/>
                </a:solidFill>
              </a:rPr>
              <a:t>는 </a:t>
            </a:r>
            <a:r>
              <a:rPr lang="EN-US" sz="1200" b="1" i="0" u="none" strike="noStrike">
                <a:solidFill>
                  <a:srgbClr val="000000"/>
                </a:solidFill>
              </a:rPr>
              <a:t>b</a:t>
            </a:r>
            <a:r>
              <a:rPr sz="1200" b="1" i="0" u="none" strike="noStrike">
                <a:solidFill>
                  <a:srgbClr val="000000"/>
                </a:solidFill>
              </a:rPr>
              <a:t>가 </a:t>
            </a:r>
            <a:r>
              <a:rPr lang="ko-KR" altLang="en-US" sz="1200" b="1" i="0" u="none" strike="noStrike">
                <a:solidFill>
                  <a:srgbClr val="000000"/>
                </a:solidFill>
              </a:rPr>
              <a:t>목표 달성 </a:t>
            </a:r>
            <a:r>
              <a:rPr sz="1200" b="1" i="0" u="none" strike="noStrike">
                <a:solidFill>
                  <a:srgbClr val="000000"/>
                </a:solidFill>
              </a:rPr>
              <a:t>하면 보상 지급</a:t>
            </a: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200" b="1" i="0" u="none" strike="noStrike">
              <a:solidFill>
                <a:srgbClr val="000000"/>
              </a:solidFill>
            </a:endParaRPr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i="0" u="none" strike="noStrike">
                <a:solidFill>
                  <a:srgbClr val="000000"/>
                </a:solidFill>
              </a:rPr>
              <a:t>보상은 어플 시스템 통한 획득</a:t>
            </a:r>
            <a:endParaRPr lang="ko-KR" altLang="en-US" sz="1200" b="0" i="0" u="none" strike="noStrike"/>
          </a:p>
          <a:p>
            <a:pPr marL="381000" marR="19050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200" b="0" i="0" u="none" strike="noStrike"/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6670358" y="1969007"/>
          <a:ext cx="5004431" cy="1226817"/>
        </p:xfrm>
        <a:graphic>
          <a:graphicData uri="http://schemas.openxmlformats.org/drawingml/2006/table">
            <a:tbl>
              <a:tblPr firstRow="1" bandRow="1"/>
              <a:tblGrid>
                <a:gridCol w="1008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93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기간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2020.03.24.~2020.04.24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3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요구사항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오늘의 잘한 것과 못한 일을 기록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  <a:solidFill>
                      <a:srgbClr val="ECF3E5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ko-KR" altLang="en-US"/>
                    </a:p>
                  </a:txBody>
                  <a:tcPr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39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보상</a:t>
                      </a:r>
                    </a:p>
                  </a:txBody>
                  <a:tcPr anchor="ctr">
                    <a:lnL w="0">
                      <a:noFill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기프티콘 등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수락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>
                          <a:solidFill>
                            <a:srgbClr val="000000"/>
                          </a:solidFill>
                          <a:latin typeface="휴먼고딕"/>
                          <a:ea typeface="휴먼고딕"/>
                        </a:rPr>
                        <a:t>거절</a:t>
                      </a:r>
                    </a:p>
                  </a:txBody>
                  <a:tcPr anchor="ctr">
                    <a:lnL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L>
                    <a:lnR w="0">
                      <a:noFill/>
                    </a:lnR>
                    <a:lnT w="4191">
                      <a:solidFill>
                        <a:srgbClr val="C6E1AB">
                          <a:alpha val="100000"/>
                        </a:srgbClr>
                      </a:solidFill>
                      <a:prstDash val="solid"/>
                    </a:lnT>
                    <a:lnB w="38862">
                      <a:solidFill>
                        <a:srgbClr val="699B37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796</Words>
  <Application>Microsoft Office PowerPoint</Application>
  <PresentationFormat>와이드스크린</PresentationFormat>
  <Paragraphs>280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함초롬바탕</vt:lpstr>
      <vt:lpstr>휴먼고딕</vt:lpstr>
      <vt:lpstr>Arial</vt:lpstr>
      <vt:lpstr>7_Office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명회 구</cp:lastModifiedBy>
  <cp:revision>39</cp:revision>
  <dcterms:created xsi:type="dcterms:W3CDTF">2020-04-06T06:06:45Z</dcterms:created>
  <dcterms:modified xsi:type="dcterms:W3CDTF">2020-04-08T11:01:35Z</dcterms:modified>
  <cp:version/>
</cp:coreProperties>
</file>